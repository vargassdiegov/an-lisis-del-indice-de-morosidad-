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4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5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6.xml" ContentType="application/vnd.openxmlformats-officedocument.presentationml.notesSlide+xml"/>
  <Override PartName="/ppt/theme/themeOverride5.xml" ContentType="application/vnd.openxmlformats-officedocument.themeOverride+xml"/>
  <Override PartName="/ppt/notesSlides/notesSlide7.xml" ContentType="application/vnd.openxmlformats-officedocument.presentationml.notesSlide+xml"/>
  <Override PartName="/ppt/theme/themeOverride6.xml" ContentType="application/vnd.openxmlformats-officedocument.themeOverride+xml"/>
  <Override PartName="/ppt/notesSlides/notesSlide8.xml" ContentType="application/vnd.openxmlformats-officedocument.presentationml.notesSlide+xml"/>
  <Override PartName="/ppt/theme/themeOverride7.xml" ContentType="application/vnd.openxmlformats-officedocument.themeOverride+xml"/>
  <Override PartName="/ppt/notesSlides/notesSlide9.xml" ContentType="application/vnd.openxmlformats-officedocument.presentationml.notesSlide+xml"/>
  <Override PartName="/ppt/theme/themeOverride8.xml" ContentType="application/vnd.openxmlformats-officedocument.themeOverride+xml"/>
  <Override PartName="/ppt/notesSlides/notesSlide10.xml" ContentType="application/vnd.openxmlformats-officedocument.presentationml.notesSlide+xml"/>
  <Override PartName="/ppt/theme/themeOverride9.xml" ContentType="application/vnd.openxmlformats-officedocument.themeOverride+xml"/>
  <Override PartName="/ppt/notesSlides/notesSlide11.xml" ContentType="application/vnd.openxmlformats-officedocument.presentationml.notesSlide+xml"/>
  <Override PartName="/ppt/theme/themeOverride10.xml" ContentType="application/vnd.openxmlformats-officedocument.themeOverride+xml"/>
  <Override PartName="/ppt/notesSlides/notesSlide12.xml" ContentType="application/vnd.openxmlformats-officedocument.presentationml.notesSlide+xml"/>
  <Override PartName="/ppt/theme/themeOverride11.xml" ContentType="application/vnd.openxmlformats-officedocument.themeOverride+xml"/>
  <Override PartName="/ppt/notesSlides/notesSlide13.xml" ContentType="application/vnd.openxmlformats-officedocument.presentationml.notesSlide+xml"/>
  <Override PartName="/ppt/theme/themeOverride12.xml" ContentType="application/vnd.openxmlformats-officedocument.themeOverride+xml"/>
  <Override PartName="/ppt/notesSlides/notesSlide14.xml" ContentType="application/vnd.openxmlformats-officedocument.presentationml.notesSlide+xml"/>
  <Override PartName="/ppt/theme/themeOverride13.xml" ContentType="application/vnd.openxmlformats-officedocument.themeOverride+xml"/>
  <Override PartName="/ppt/notesSlides/notesSlide15.xml" ContentType="application/vnd.openxmlformats-officedocument.presentationml.notesSlide+xml"/>
  <Override PartName="/ppt/theme/themeOverride14.xml" ContentType="application/vnd.openxmlformats-officedocument.themeOverr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71" r:id="rId5"/>
    <p:sldId id="259" r:id="rId6"/>
    <p:sldId id="273" r:id="rId7"/>
    <p:sldId id="276" r:id="rId8"/>
    <p:sldId id="277" r:id="rId9"/>
    <p:sldId id="262" r:id="rId10"/>
    <p:sldId id="260" r:id="rId11"/>
    <p:sldId id="261" r:id="rId12"/>
    <p:sldId id="263" r:id="rId13"/>
    <p:sldId id="268" r:id="rId14"/>
    <p:sldId id="264" r:id="rId15"/>
    <p:sldId id="265" r:id="rId16"/>
    <p:sldId id="267" r:id="rId17"/>
    <p:sldId id="269" r:id="rId18"/>
    <p:sldId id="270" r:id="rId19"/>
    <p:sldId id="272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184"/>
    <p:restoredTop sz="94610"/>
  </p:normalViewPr>
  <p:slideViewPr>
    <p:cSldViewPr snapToGrid="0" snapToObjects="1">
      <p:cViewPr varScale="1">
        <p:scale>
          <a:sx n="156" d="100"/>
          <a:sy n="156" d="100"/>
        </p:scale>
        <p:origin x="192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06006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B6AC2-BCC8-A32D-2373-F6EC93C04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892F4A-1A1E-5A04-1F20-49A89711DC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6C93E2-6576-D1BD-B15C-7CCBE9D162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63BAE7-E470-3B3E-6066-910E754ADB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5840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56300-A5AD-68EE-0B54-7184A1C61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FB822E-7C6E-5761-C323-557A7FDD63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1FE8C1-4296-22D3-E5B2-BDC12EDA2E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313C4B-BDFB-AE61-D1AC-10DC6CBAD7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0024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4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6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8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9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0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7" Type="http://schemas.openxmlformats.org/officeDocument/2006/relationships/hyperlink" Target="https://www.r-project.org/" TargetMode="Externa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3.xml"/><Relationship Id="rId6" Type="http://schemas.openxmlformats.org/officeDocument/2006/relationships/hyperlink" Target="https://www.inegi.org.mx/sistemas/bie/" TargetMode="External"/><Relationship Id="rId5" Type="http://schemas.openxmlformats.org/officeDocument/2006/relationships/hyperlink" Target="https://www.cnbv.gob.mx/Paginas/Estadisticas.aspx" TargetMode="External"/><Relationship Id="rId4" Type="http://schemas.openxmlformats.org/officeDocument/2006/relationships/hyperlink" Target="https://www.banxico.org.mx/SieInternet/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64A8D8"/>
          </a:solidFill>
          <a:ln w="12700">
            <a:solidFill>
              <a:srgbClr val="64A8D8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3" name="Text 1"/>
          <p:cNvSpPr/>
          <p:nvPr/>
        </p:nvSpPr>
        <p:spPr>
          <a:xfrm>
            <a:off x="228600" y="27432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A96B2"/>
                </a:solidFill>
              </a:rPr>
              <a:t>IBERO Ciudad de México  ·  Ciencia de Datos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8600" y="100584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0F4F8"/>
                </a:solidFill>
              </a:rPr>
              <a:t>Modelo Macroeconómico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228600" y="16916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0F4F8"/>
                </a:solidFill>
              </a:rPr>
              <a:t>para Cuantificar la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228600" y="233172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64A8D8"/>
                </a:solidFill>
              </a:rPr>
              <a:t>Probabilidad de Incumplimiento de pago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28600" y="31546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7A96B2"/>
                </a:solidFill>
              </a:rPr>
              <a:t>Portafolio de Tarjetas de Crédito  |  Banca Múltiple en México  |  2007–2025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28600" y="3749040"/>
            <a:ext cx="1828800" cy="27432"/>
          </a:xfrm>
          <a:prstGeom prst="rect">
            <a:avLst/>
          </a:prstGeom>
          <a:solidFill>
            <a:srgbClr val="64A8D8"/>
          </a:solidFill>
          <a:ln w="12700">
            <a:solidFill>
              <a:srgbClr val="64A8D8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77F59067-E5C8-2452-C0DB-166376C7A8DF}"/>
              </a:ext>
            </a:extLst>
          </p:cNvPr>
          <p:cNvSpPr/>
          <p:nvPr/>
        </p:nvSpPr>
        <p:spPr>
          <a:xfrm>
            <a:off x="228600" y="3931920"/>
            <a:ext cx="8686800" cy="696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F0F4F8"/>
                </a:solidFill>
              </a:rPr>
              <a:t>Alumno: Diego Vargas Santana </a:t>
            </a:r>
          </a:p>
          <a:p>
            <a:r>
              <a:rPr lang="en-US" sz="1100" dirty="0">
                <a:solidFill>
                  <a:srgbClr val="F0F4F8"/>
                </a:solidFill>
              </a:rPr>
              <a:t>Asesor:  Jorge Luis Reyes García   </a:t>
            </a:r>
          </a:p>
          <a:p>
            <a:r>
              <a:rPr lang="en-US" sz="1100" dirty="0">
                <a:solidFill>
                  <a:srgbClr val="F0F4F8"/>
                </a:solidFill>
              </a:rPr>
              <a:t>Sinodales:  Lizbeth Peñaloza Velasco   ·   Díaz Infante Rodrigo Pesquera </a:t>
            </a:r>
            <a:endParaRPr lang="en-US" sz="11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64A8D8"/>
                </a:solidFill>
              </a:rPr>
              <a:t>¿Por qué estudiar la morosidad?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114800" cy="1645920"/>
          </a:xfrm>
          <a:prstGeom prst="rect">
            <a:avLst/>
          </a:prstGeom>
          <a:solidFill>
            <a:srgbClr val="1E3A52"/>
          </a:solidFill>
          <a:ln w="12700">
            <a:solidFill>
              <a:srgbClr val="64A8D8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54864" cy="1645920"/>
          </a:xfrm>
          <a:prstGeom prst="rect">
            <a:avLst/>
          </a:prstGeom>
          <a:solidFill>
            <a:srgbClr val="64A8D8"/>
          </a:solidFill>
          <a:ln w="12700">
            <a:solidFill>
              <a:srgbClr val="64A8D8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6" name="Text 4"/>
          <p:cNvSpPr/>
          <p:nvPr/>
        </p:nvSpPr>
        <p:spPr>
          <a:xfrm>
            <a:off x="411480" y="12344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4A8D8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11480" y="15544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0F4F8"/>
                </a:solidFill>
              </a:rPr>
              <a:t>Principal instrumento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901952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chemeClr val="bg2"/>
                </a:solidFill>
              </a:rPr>
              <a:t>Las tarjetas de crédito representan ~85% de la cartera de crédito revolvente al consumo en México.</a:t>
            </a:r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4114800" cy="1645920"/>
          </a:xfrm>
          <a:prstGeom prst="rect">
            <a:avLst/>
          </a:prstGeom>
          <a:solidFill>
            <a:srgbClr val="1E3A52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54864" cy="16459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11" name="Text 9"/>
          <p:cNvSpPr/>
          <p:nvPr/>
        </p:nvSpPr>
        <p:spPr>
          <a:xfrm>
            <a:off x="4892040" y="12344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C9A84C"/>
                </a:solidFill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892040" y="15544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0F4F8"/>
                </a:solidFill>
              </a:rPr>
              <a:t>Riesgo sistémico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92040" y="1901952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chemeClr val="bg2"/>
                </a:solidFill>
              </a:rPr>
              <a:t>Alzas en el Índice de Morosidad deterioran la salud financiera bancaria y generan efectos en cadena en la economía.</a:t>
            </a:r>
          </a:p>
        </p:txBody>
      </p:sp>
      <p:sp>
        <p:nvSpPr>
          <p:cNvPr id="14" name="Shape 12"/>
          <p:cNvSpPr/>
          <p:nvPr/>
        </p:nvSpPr>
        <p:spPr>
          <a:xfrm>
            <a:off x="274320" y="3017520"/>
            <a:ext cx="4114800" cy="1645920"/>
          </a:xfrm>
          <a:prstGeom prst="rect">
            <a:avLst/>
          </a:prstGeom>
          <a:solidFill>
            <a:srgbClr val="1E3A52"/>
          </a:solidFill>
          <a:ln w="12700">
            <a:solidFill>
              <a:srgbClr val="8EC4E8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15" name="Shape 13"/>
          <p:cNvSpPr/>
          <p:nvPr/>
        </p:nvSpPr>
        <p:spPr>
          <a:xfrm>
            <a:off x="274320" y="3017520"/>
            <a:ext cx="54864" cy="1645920"/>
          </a:xfrm>
          <a:prstGeom prst="rect">
            <a:avLst/>
          </a:prstGeom>
          <a:solidFill>
            <a:srgbClr val="8EC4E8"/>
          </a:solidFill>
          <a:ln w="12700">
            <a:solidFill>
              <a:srgbClr val="8EC4E8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16" name="Text 14"/>
          <p:cNvSpPr/>
          <p:nvPr/>
        </p:nvSpPr>
        <p:spPr>
          <a:xfrm>
            <a:off x="411480" y="31546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EC4E8"/>
                </a:solidFill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11480" y="3474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0F4F8"/>
                </a:solidFill>
              </a:rPr>
              <a:t>Ciclos económicos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1480" y="3822192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chemeClr val="bg2"/>
                </a:solidFill>
              </a:rPr>
              <a:t>La capacidad de pago de los hogares depende del entorno macro: PIB, empleo, tasas de interés.</a:t>
            </a:r>
          </a:p>
        </p:txBody>
      </p:sp>
      <p:sp>
        <p:nvSpPr>
          <p:cNvPr id="19" name="Shape 17"/>
          <p:cNvSpPr/>
          <p:nvPr/>
        </p:nvSpPr>
        <p:spPr>
          <a:xfrm>
            <a:off x="4754880" y="3017520"/>
            <a:ext cx="4114800" cy="1645920"/>
          </a:xfrm>
          <a:prstGeom prst="rect">
            <a:avLst/>
          </a:prstGeom>
          <a:solidFill>
            <a:srgbClr val="1E3A52"/>
          </a:solidFill>
          <a:ln w="12700">
            <a:solidFill>
              <a:srgbClr val="8EC4E8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20" name="Shape 18"/>
          <p:cNvSpPr/>
          <p:nvPr/>
        </p:nvSpPr>
        <p:spPr>
          <a:xfrm>
            <a:off x="4754880" y="3017520"/>
            <a:ext cx="54864" cy="1645920"/>
          </a:xfrm>
          <a:prstGeom prst="rect">
            <a:avLst/>
          </a:prstGeom>
          <a:solidFill>
            <a:srgbClr val="8EC4E8"/>
          </a:solidFill>
          <a:ln w="12700">
            <a:solidFill>
              <a:srgbClr val="8EC4E8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21" name="Text 19"/>
          <p:cNvSpPr/>
          <p:nvPr/>
        </p:nvSpPr>
        <p:spPr>
          <a:xfrm>
            <a:off x="4892040" y="31546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EC4E8"/>
                </a:solidFill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892040" y="3474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0F4F8"/>
                </a:solidFill>
              </a:rPr>
              <a:t>Gestión proactiva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92040" y="3822192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chemeClr val="bg2"/>
                </a:solidFill>
              </a:rPr>
              <a:t>Anticipar la morosidad permite a los bancos provisionar capital y ajustar políticas crediticias.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64A8D8"/>
                </a:solidFill>
              </a:rPr>
              <a:t>Variable dependiente: IMORA</a:t>
            </a:r>
          </a:p>
        </p:txBody>
      </p:sp>
      <p:sp>
        <p:nvSpPr>
          <p:cNvPr id="3" name="Text 1"/>
          <p:cNvSpPr/>
          <p:nvPr/>
        </p:nvSpPr>
        <p:spPr>
          <a:xfrm>
            <a:off x="365760" y="56692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A96B2"/>
                </a:solidFill>
              </a:rPr>
              <a:t>Índice de Morosidad Ajustado — Banca Múltiple México  |  2008–2025  |  n = 216 observaciones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14400"/>
            <a:ext cx="8595360" cy="3291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389888" y="4366260"/>
            <a:ext cx="2011680" cy="594360"/>
          </a:xfrm>
          <a:prstGeom prst="rect">
            <a:avLst/>
          </a:prstGeom>
          <a:solidFill>
            <a:srgbClr val="1E3A52"/>
          </a:solidFill>
          <a:ln w="12700">
            <a:solidFill>
              <a:srgbClr val="64A8D8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6" name="Text 3"/>
          <p:cNvSpPr/>
          <p:nvPr/>
        </p:nvSpPr>
        <p:spPr>
          <a:xfrm>
            <a:off x="1389888" y="43936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84C"/>
                </a:solidFill>
              </a:rPr>
              <a:t>4% – 19%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389888" y="465886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6B2"/>
                </a:solidFill>
              </a:rPr>
              <a:t>Rango histórico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566160" y="4366260"/>
            <a:ext cx="2011680" cy="594360"/>
          </a:xfrm>
          <a:prstGeom prst="rect">
            <a:avLst/>
          </a:prstGeom>
          <a:solidFill>
            <a:srgbClr val="1E3A52"/>
          </a:solidFill>
          <a:ln w="12700">
            <a:solidFill>
              <a:srgbClr val="64A8D8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9" name="Text 6"/>
          <p:cNvSpPr/>
          <p:nvPr/>
        </p:nvSpPr>
        <p:spPr>
          <a:xfrm>
            <a:off x="3566160" y="43936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84C"/>
                </a:solidFill>
              </a:rPr>
              <a:t>Crisis 2008-09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566160" y="465886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6B2"/>
                </a:solidFill>
              </a:rPr>
              <a:t>Pico máximo morosidad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742432" y="4366260"/>
            <a:ext cx="2011680" cy="594360"/>
          </a:xfrm>
          <a:prstGeom prst="rect">
            <a:avLst/>
          </a:prstGeom>
          <a:solidFill>
            <a:srgbClr val="1E3A52"/>
          </a:solidFill>
          <a:ln w="12700">
            <a:solidFill>
              <a:srgbClr val="64A8D8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12" name="Text 9"/>
          <p:cNvSpPr/>
          <p:nvPr/>
        </p:nvSpPr>
        <p:spPr>
          <a:xfrm>
            <a:off x="5742432" y="43936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84C"/>
                </a:solidFill>
              </a:rPr>
              <a:t>COVID-19 2020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742432" y="465886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6B2"/>
                </a:solidFill>
              </a:rPr>
              <a:t>Alza por pandemia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2791A1-3411-3DB0-DAC1-B7BAB3E18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B2B0B2D-0E41-2927-3451-2EC36C74A038}"/>
              </a:ext>
            </a:extLst>
          </p:cNvPr>
          <p:cNvSpPr/>
          <p:nvPr/>
        </p:nvSpPr>
        <p:spPr>
          <a:xfrm>
            <a:off x="365760" y="1828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64A8D8"/>
                </a:solidFill>
              </a:rPr>
              <a:t>Objetivos </a:t>
            </a:r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CFB638E9-1E2A-0EFB-B51B-4CA26D849248}"/>
              </a:ext>
            </a:extLst>
          </p:cNvPr>
          <p:cNvSpPr/>
          <p:nvPr/>
        </p:nvSpPr>
        <p:spPr>
          <a:xfrm rot="16200000">
            <a:off x="1563143" y="-211757"/>
            <a:ext cx="1325880" cy="3474720"/>
          </a:xfrm>
          <a:prstGeom prst="rect">
            <a:avLst/>
          </a:prstGeom>
          <a:solidFill>
            <a:srgbClr val="1E3A52"/>
          </a:solidFill>
          <a:ln w="12700">
            <a:solidFill>
              <a:srgbClr val="8EC4E8"/>
            </a:solidFill>
            <a:prstDash val="solid"/>
          </a:ln>
        </p:spPr>
        <p:txBody>
          <a:bodyPr/>
          <a:lstStyle/>
          <a:p>
            <a:endParaRPr lang="en-MX" dirty="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27578903-0159-EC12-6BEF-BD89EE425BE4}"/>
              </a:ext>
            </a:extLst>
          </p:cNvPr>
          <p:cNvSpPr/>
          <p:nvPr/>
        </p:nvSpPr>
        <p:spPr>
          <a:xfrm rot="16200000">
            <a:off x="6068729" y="587141"/>
            <a:ext cx="1325880" cy="3474720"/>
          </a:xfrm>
          <a:prstGeom prst="rect">
            <a:avLst/>
          </a:prstGeom>
          <a:solidFill>
            <a:srgbClr val="1E3A52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3294CEF2-6E86-91E7-9699-40481D408334}"/>
              </a:ext>
            </a:extLst>
          </p:cNvPr>
          <p:cNvSpPr/>
          <p:nvPr/>
        </p:nvSpPr>
        <p:spPr>
          <a:xfrm>
            <a:off x="1005841" y="3311088"/>
            <a:ext cx="3720165" cy="1325881"/>
          </a:xfrm>
          <a:prstGeom prst="rect">
            <a:avLst/>
          </a:prstGeom>
          <a:solidFill>
            <a:srgbClr val="1E3A52"/>
          </a:solidFill>
          <a:ln w="12700">
            <a:solidFill>
              <a:srgbClr val="8EC4E8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1A7FE29E-4614-C267-3643-DD38DEA6A528}"/>
              </a:ext>
            </a:extLst>
          </p:cNvPr>
          <p:cNvSpPr/>
          <p:nvPr/>
        </p:nvSpPr>
        <p:spPr>
          <a:xfrm>
            <a:off x="1538839" y="3217534"/>
            <a:ext cx="2879157" cy="14194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300" b="1" dirty="0">
              <a:solidFill>
                <a:srgbClr val="F0F4F8"/>
              </a:solidFill>
            </a:endParaRPr>
          </a:p>
          <a:p>
            <a:pPr algn="just"/>
            <a:r>
              <a:rPr lang="en-US" sz="1300" b="1" dirty="0">
                <a:solidFill>
                  <a:srgbClr val="F0F4F8"/>
                </a:solidFill>
              </a:rPr>
              <a:t>Ofrecer un modelo modular y escalable en R que pueda actualizarse mensualmente conforme evolucionen las condiciones económicas de México.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FA0AD17-45F9-D692-15A9-4095B8393CD5}"/>
              </a:ext>
            </a:extLst>
          </p:cNvPr>
          <p:cNvSpPr txBox="1"/>
          <p:nvPr/>
        </p:nvSpPr>
        <p:spPr>
          <a:xfrm>
            <a:off x="674971" y="1092756"/>
            <a:ext cx="3017521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buNone/>
              <a:defRPr sz="1300" b="1">
                <a:solidFill>
                  <a:srgbClr val="F0F4F8"/>
                </a:solidFill>
              </a:defRPr>
            </a:lvl1pPr>
          </a:lstStyle>
          <a:p>
            <a:r>
              <a:rPr lang="en-US" dirty="0"/>
              <a:t>Generar una herramienta cuantitativa que permita a instituciones bancarias anticipar alzas en la morosidad de tarjetas de crédito antes de que ocurran.</a:t>
            </a:r>
          </a:p>
        </p:txBody>
      </p:sp>
      <p:sp>
        <p:nvSpPr>
          <p:cNvPr id="43" name="Text 38">
            <a:extLst>
              <a:ext uri="{FF2B5EF4-FFF2-40B4-BE49-F238E27FC236}">
                <a16:creationId xmlns:a16="http://schemas.microsoft.com/office/drawing/2014/main" id="{49DF486F-2178-1598-E959-60F41B03BFEB}"/>
              </a:ext>
            </a:extLst>
          </p:cNvPr>
          <p:cNvSpPr/>
          <p:nvPr/>
        </p:nvSpPr>
        <p:spPr>
          <a:xfrm>
            <a:off x="5305325" y="1661560"/>
            <a:ext cx="2852687" cy="124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n-US" sz="1300" b="1" dirty="0">
                <a:solidFill>
                  <a:srgbClr val="F0F4F8"/>
                </a:solidFill>
              </a:rPr>
              <a:t>Apoyar decisiones de provisión de capital y ajuste de políticas crediticias con base en el entorno macroeconómico vigente.</a:t>
            </a:r>
          </a:p>
        </p:txBody>
      </p:sp>
      <p:sp>
        <p:nvSpPr>
          <p:cNvPr id="44" name="Shape 18">
            <a:extLst>
              <a:ext uri="{FF2B5EF4-FFF2-40B4-BE49-F238E27FC236}">
                <a16:creationId xmlns:a16="http://schemas.microsoft.com/office/drawing/2014/main" id="{9EC925CF-2E79-D600-A653-156097D409CB}"/>
              </a:ext>
            </a:extLst>
          </p:cNvPr>
          <p:cNvSpPr/>
          <p:nvPr/>
        </p:nvSpPr>
        <p:spPr>
          <a:xfrm flipH="1">
            <a:off x="481264" y="862663"/>
            <a:ext cx="45719" cy="1325881"/>
          </a:xfrm>
          <a:prstGeom prst="rect">
            <a:avLst/>
          </a:prstGeom>
          <a:solidFill>
            <a:srgbClr val="8EC4E8"/>
          </a:solidFill>
          <a:ln w="12700">
            <a:solidFill>
              <a:srgbClr val="8EC4E8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45" name="Shape 8">
            <a:extLst>
              <a:ext uri="{FF2B5EF4-FFF2-40B4-BE49-F238E27FC236}">
                <a16:creationId xmlns:a16="http://schemas.microsoft.com/office/drawing/2014/main" id="{183B9922-E9D9-C9D4-6085-7F6559DED435}"/>
              </a:ext>
            </a:extLst>
          </p:cNvPr>
          <p:cNvSpPr/>
          <p:nvPr/>
        </p:nvSpPr>
        <p:spPr>
          <a:xfrm>
            <a:off x="4971448" y="1661560"/>
            <a:ext cx="45719" cy="1325881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46" name="Shape 13">
            <a:extLst>
              <a:ext uri="{FF2B5EF4-FFF2-40B4-BE49-F238E27FC236}">
                <a16:creationId xmlns:a16="http://schemas.microsoft.com/office/drawing/2014/main" id="{2C6F3265-AA2A-08A0-6846-D6A2134CDB4B}"/>
              </a:ext>
            </a:extLst>
          </p:cNvPr>
          <p:cNvSpPr/>
          <p:nvPr/>
        </p:nvSpPr>
        <p:spPr>
          <a:xfrm>
            <a:off x="1005841" y="3311088"/>
            <a:ext cx="45719" cy="1325882"/>
          </a:xfrm>
          <a:prstGeom prst="rect">
            <a:avLst/>
          </a:prstGeom>
          <a:solidFill>
            <a:srgbClr val="8EC4E8"/>
          </a:solidFill>
          <a:ln w="12700">
            <a:solidFill>
              <a:srgbClr val="8EC4E8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33228373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54004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64A8D8"/>
                </a:solidFill>
              </a:rPr>
              <a:t>Desarrollo del modelo 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11A1810-4814-A543-7D5B-1BD37D4E0DF0}"/>
              </a:ext>
            </a:extLst>
          </p:cNvPr>
          <p:cNvGrpSpPr/>
          <p:nvPr/>
        </p:nvGrpSpPr>
        <p:grpSpPr>
          <a:xfrm>
            <a:off x="1376412" y="787767"/>
            <a:ext cx="6256421" cy="3567966"/>
            <a:chOff x="2080260" y="735130"/>
            <a:chExt cx="4329034" cy="3374857"/>
          </a:xfrm>
        </p:grpSpPr>
        <p:sp>
          <p:nvSpPr>
            <p:cNvPr id="4" name="Shape 2"/>
            <p:cNvSpPr/>
            <p:nvPr/>
          </p:nvSpPr>
          <p:spPr>
            <a:xfrm>
              <a:off x="2080260" y="735130"/>
              <a:ext cx="1373284" cy="3374857"/>
            </a:xfrm>
            <a:prstGeom prst="rect">
              <a:avLst/>
            </a:prstGeom>
            <a:solidFill>
              <a:srgbClr val="1E3A52"/>
            </a:solidFill>
            <a:ln w="12700">
              <a:solidFill>
                <a:srgbClr val="64A8D8"/>
              </a:solidFill>
              <a:prstDash val="solid"/>
            </a:ln>
          </p:spPr>
          <p:txBody>
            <a:bodyPr/>
            <a:lstStyle/>
            <a:p>
              <a:endParaRPr lang="en-MX"/>
            </a:p>
          </p:txBody>
        </p:sp>
        <p:sp>
          <p:nvSpPr>
            <p:cNvPr id="5" name="Shape 3"/>
            <p:cNvSpPr/>
            <p:nvPr/>
          </p:nvSpPr>
          <p:spPr>
            <a:xfrm>
              <a:off x="2464307" y="872290"/>
              <a:ext cx="568255" cy="532872"/>
            </a:xfrm>
            <a:prstGeom prst="ellipse">
              <a:avLst/>
            </a:prstGeom>
            <a:solidFill>
              <a:srgbClr val="64A8D8"/>
            </a:solidFill>
            <a:ln w="12700">
              <a:solidFill>
                <a:srgbClr val="64A8D8"/>
              </a:solidFill>
              <a:prstDash val="solid"/>
            </a:ln>
          </p:spPr>
          <p:txBody>
            <a:bodyPr/>
            <a:lstStyle/>
            <a:p>
              <a:endParaRPr lang="en-MX"/>
            </a:p>
          </p:txBody>
        </p:sp>
        <p:sp>
          <p:nvSpPr>
            <p:cNvPr id="6" name="Text 4"/>
            <p:cNvSpPr/>
            <p:nvPr/>
          </p:nvSpPr>
          <p:spPr>
            <a:xfrm>
              <a:off x="2464307" y="918010"/>
              <a:ext cx="568255" cy="4440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1B2A3B"/>
                  </a:solidFill>
                </a:rPr>
                <a:t>1</a:t>
              </a:r>
              <a:endParaRPr lang="en-US" sz="18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2125979" y="1558090"/>
              <a:ext cx="1278575" cy="57727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0F4F8"/>
                  </a:solidFill>
                </a:rPr>
                <a:t>Preparación de Datos</a:t>
              </a:r>
              <a:endParaRPr lang="en-US" sz="10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2125979" y="2243890"/>
              <a:ext cx="1278575" cy="7104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chemeClr val="bg2"/>
                  </a:solidFill>
                </a:rPr>
                <a:t>Imputación con promedios móviles + estandarización Z de las 27 variables</a:t>
              </a:r>
            </a:p>
            <a:p>
              <a:pPr marL="0" indent="0" algn="ctr">
                <a:buNone/>
              </a:pPr>
              <a:r>
                <a:rPr lang="en-US" sz="1050" dirty="0">
                  <a:solidFill>
                    <a:schemeClr val="bg2"/>
                  </a:solidFill>
                </a:rPr>
                <a:t> </a:t>
              </a:r>
              <a:endParaRPr lang="en-US" sz="900" dirty="0">
                <a:solidFill>
                  <a:schemeClr val="bg2"/>
                </a:solidFill>
              </a:endParaRPr>
            </a:p>
          </p:txBody>
        </p:sp>
        <p:sp>
          <p:nvSpPr>
            <p:cNvPr id="9" name="Shape 7"/>
            <p:cNvSpPr/>
            <p:nvPr/>
          </p:nvSpPr>
          <p:spPr>
            <a:xfrm>
              <a:off x="3406139" y="2381050"/>
              <a:ext cx="113651" cy="71050"/>
            </a:xfrm>
            <a:prstGeom prst="rect">
              <a:avLst/>
            </a:prstGeom>
            <a:solidFill>
              <a:srgbClr val="7A96B2"/>
            </a:solidFill>
            <a:ln w="12700">
              <a:solidFill>
                <a:srgbClr val="7A96B2"/>
              </a:solidFill>
              <a:prstDash val="solid"/>
            </a:ln>
          </p:spPr>
          <p:txBody>
            <a:bodyPr/>
            <a:lstStyle/>
            <a:p>
              <a:endParaRPr lang="en-MX"/>
            </a:p>
          </p:txBody>
        </p:sp>
        <p:sp>
          <p:nvSpPr>
            <p:cNvPr id="10" name="Shape 8"/>
            <p:cNvSpPr/>
            <p:nvPr/>
          </p:nvSpPr>
          <p:spPr>
            <a:xfrm>
              <a:off x="3525012" y="735130"/>
              <a:ext cx="1373284" cy="3374857"/>
            </a:xfrm>
            <a:prstGeom prst="rect">
              <a:avLst/>
            </a:prstGeom>
            <a:solidFill>
              <a:srgbClr val="1E3A52"/>
            </a:solidFill>
            <a:ln w="12700">
              <a:solidFill>
                <a:srgbClr val="8EC4E8"/>
              </a:solidFill>
              <a:prstDash val="solid"/>
            </a:ln>
          </p:spPr>
          <p:txBody>
            <a:bodyPr/>
            <a:lstStyle/>
            <a:p>
              <a:endParaRPr lang="en-MX"/>
            </a:p>
          </p:txBody>
        </p:sp>
        <p:sp>
          <p:nvSpPr>
            <p:cNvPr id="11" name="Shape 9"/>
            <p:cNvSpPr/>
            <p:nvPr/>
          </p:nvSpPr>
          <p:spPr>
            <a:xfrm>
              <a:off x="3909059" y="872290"/>
              <a:ext cx="568255" cy="532872"/>
            </a:xfrm>
            <a:prstGeom prst="ellipse">
              <a:avLst/>
            </a:prstGeom>
            <a:solidFill>
              <a:srgbClr val="8EC4E8"/>
            </a:solidFill>
            <a:ln w="12700">
              <a:solidFill>
                <a:srgbClr val="8EC4E8"/>
              </a:solidFill>
              <a:prstDash val="solid"/>
            </a:ln>
          </p:spPr>
          <p:txBody>
            <a:bodyPr/>
            <a:lstStyle/>
            <a:p>
              <a:endParaRPr lang="en-MX"/>
            </a:p>
          </p:txBody>
        </p:sp>
        <p:sp>
          <p:nvSpPr>
            <p:cNvPr id="12" name="Text 10"/>
            <p:cNvSpPr/>
            <p:nvPr/>
          </p:nvSpPr>
          <p:spPr>
            <a:xfrm>
              <a:off x="3918684" y="918010"/>
              <a:ext cx="568255" cy="4440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1B2A3B"/>
                  </a:solidFill>
                </a:rPr>
                <a:t>2</a:t>
              </a:r>
              <a:endParaRPr lang="en-US" sz="18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3570731" y="1558090"/>
              <a:ext cx="1278575" cy="57727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0F4F8"/>
                  </a:solidFill>
                </a:rPr>
                <a:t>Modelado</a:t>
              </a:r>
              <a:endParaRPr lang="en-US" sz="10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3570731" y="2243890"/>
              <a:ext cx="1278575" cy="7104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chemeClr val="bg2"/>
                  </a:solidFill>
                </a:rPr>
                <a:t>Transformación logit + regresión OLS + selección stepwise AIC bidireccional</a:t>
              </a:r>
            </a:p>
            <a:p>
              <a:pPr marL="0" indent="0" algn="ctr">
                <a:buNone/>
              </a:pPr>
              <a:r>
                <a:rPr lang="en-US" sz="1050" dirty="0">
                  <a:solidFill>
                    <a:schemeClr val="bg2"/>
                  </a:solidFill>
                </a:rPr>
                <a:t> </a:t>
              </a:r>
            </a:p>
          </p:txBody>
        </p:sp>
        <p:sp>
          <p:nvSpPr>
            <p:cNvPr id="15" name="Shape 13"/>
            <p:cNvSpPr/>
            <p:nvPr/>
          </p:nvSpPr>
          <p:spPr>
            <a:xfrm>
              <a:off x="4850891" y="2381050"/>
              <a:ext cx="113651" cy="71050"/>
            </a:xfrm>
            <a:prstGeom prst="rect">
              <a:avLst/>
            </a:prstGeom>
            <a:solidFill>
              <a:srgbClr val="7A96B2"/>
            </a:solidFill>
            <a:ln w="12700">
              <a:solidFill>
                <a:srgbClr val="7A96B2"/>
              </a:solidFill>
              <a:prstDash val="solid"/>
            </a:ln>
          </p:spPr>
          <p:txBody>
            <a:bodyPr/>
            <a:lstStyle/>
            <a:p>
              <a:endParaRPr lang="en-MX"/>
            </a:p>
          </p:txBody>
        </p:sp>
        <p:sp>
          <p:nvSpPr>
            <p:cNvPr id="16" name="Shape 14"/>
            <p:cNvSpPr/>
            <p:nvPr/>
          </p:nvSpPr>
          <p:spPr>
            <a:xfrm>
              <a:off x="4969764" y="735130"/>
              <a:ext cx="1373284" cy="3374857"/>
            </a:xfrm>
            <a:prstGeom prst="rect">
              <a:avLst/>
            </a:prstGeom>
            <a:solidFill>
              <a:srgbClr val="1E3A52"/>
            </a:solidFill>
            <a:ln w="12700">
              <a:solidFill>
                <a:srgbClr val="C9A84C"/>
              </a:solidFill>
              <a:prstDash val="solid"/>
            </a:ln>
          </p:spPr>
          <p:txBody>
            <a:bodyPr/>
            <a:lstStyle/>
            <a:p>
              <a:endParaRPr lang="en-MX"/>
            </a:p>
          </p:txBody>
        </p:sp>
        <p:sp>
          <p:nvSpPr>
            <p:cNvPr id="17" name="Shape 15"/>
            <p:cNvSpPr/>
            <p:nvPr/>
          </p:nvSpPr>
          <p:spPr>
            <a:xfrm>
              <a:off x="5353811" y="872290"/>
              <a:ext cx="568255" cy="532872"/>
            </a:xfrm>
            <a:prstGeom prst="ellipse">
              <a:avLst/>
            </a:prstGeom>
            <a:solidFill>
              <a:srgbClr val="C9A84C"/>
            </a:solidFill>
            <a:ln w="12700">
              <a:solidFill>
                <a:srgbClr val="C9A84C"/>
              </a:solidFill>
              <a:prstDash val="solid"/>
            </a:ln>
          </p:spPr>
          <p:txBody>
            <a:bodyPr/>
            <a:lstStyle/>
            <a:p>
              <a:endParaRPr lang="en-MX"/>
            </a:p>
          </p:txBody>
        </p:sp>
        <p:sp>
          <p:nvSpPr>
            <p:cNvPr id="18" name="Text 16"/>
            <p:cNvSpPr/>
            <p:nvPr/>
          </p:nvSpPr>
          <p:spPr>
            <a:xfrm>
              <a:off x="5353811" y="918010"/>
              <a:ext cx="568255" cy="4440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1B2A3B"/>
                  </a:solidFill>
                </a:rPr>
                <a:t>3</a:t>
              </a:r>
              <a:endParaRPr lang="en-US" sz="1800" dirty="0"/>
            </a:p>
          </p:txBody>
        </p:sp>
        <p:sp>
          <p:nvSpPr>
            <p:cNvPr id="37" name="Text 35"/>
            <p:cNvSpPr/>
            <p:nvPr/>
          </p:nvSpPr>
          <p:spPr>
            <a:xfrm>
              <a:off x="5015483" y="1636812"/>
              <a:ext cx="1278575" cy="57727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0F4F8"/>
                  </a:solidFill>
                </a:rPr>
                <a:t>Validación</a:t>
              </a:r>
              <a:endParaRPr lang="en-US" sz="1000" dirty="0"/>
            </a:p>
            <a:p>
              <a:pPr marL="0" indent="0" algn="ctr">
                <a:buNone/>
              </a:pPr>
              <a:endParaRPr lang="en-US" sz="1000" b="1" dirty="0">
                <a:solidFill>
                  <a:srgbClr val="F0F4F8"/>
                </a:solidFill>
              </a:endParaRPr>
            </a:p>
            <a:p>
              <a:pPr marL="0" indent="0" algn="ctr">
                <a:buNone/>
              </a:pPr>
              <a:endParaRPr lang="en-US" sz="10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5015483" y="2243890"/>
              <a:ext cx="1278575" cy="7104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050" dirty="0">
                  <a:solidFill>
                    <a:schemeClr val="bg2"/>
                  </a:solidFill>
                </a:rPr>
                <a:t>Breusch-Pagan · DW · Shapiro Wilk</a:t>
              </a:r>
            </a:p>
            <a:p>
              <a:pPr marL="0" indent="0" algn="ctr">
                <a:buNone/>
              </a:pPr>
              <a:r>
                <a:rPr lang="en-US" sz="1050" dirty="0">
                  <a:solidFill>
                    <a:schemeClr val="bg2"/>
                  </a:solidFill>
                </a:rPr>
                <a:t> </a:t>
              </a:r>
            </a:p>
          </p:txBody>
        </p:sp>
        <p:sp>
          <p:nvSpPr>
            <p:cNvPr id="21" name="Shape 19"/>
            <p:cNvSpPr/>
            <p:nvPr/>
          </p:nvSpPr>
          <p:spPr>
            <a:xfrm>
              <a:off x="6295643" y="2381050"/>
              <a:ext cx="113651" cy="71050"/>
            </a:xfrm>
            <a:prstGeom prst="rect">
              <a:avLst/>
            </a:prstGeom>
            <a:solidFill>
              <a:srgbClr val="7A96B2"/>
            </a:solidFill>
            <a:ln w="12700">
              <a:solidFill>
                <a:srgbClr val="7A96B2"/>
              </a:solidFill>
              <a:prstDash val="solid"/>
            </a:ln>
          </p:spPr>
          <p:txBody>
            <a:bodyPr/>
            <a:lstStyle/>
            <a:p>
              <a:endParaRPr lang="en-MX"/>
            </a:p>
          </p:txBody>
        </p:sp>
        <p:sp>
          <p:nvSpPr>
            <p:cNvPr id="24" name="Text 22"/>
            <p:cNvSpPr/>
            <p:nvPr/>
          </p:nvSpPr>
          <p:spPr>
            <a:xfrm>
              <a:off x="5084063" y="933650"/>
              <a:ext cx="568255" cy="4440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1B2A3B"/>
                  </a:solidFill>
                </a:rPr>
                <a:t> </a:t>
              </a:r>
              <a:endParaRPr lang="en-US" sz="18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4745735" y="1573730"/>
              <a:ext cx="1278575" cy="57727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0F4F8"/>
                  </a:solidFill>
                </a:rPr>
                <a:t> </a:t>
              </a:r>
              <a:endParaRPr lang="en-US" sz="100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4745735" y="2259530"/>
              <a:ext cx="1278575" cy="7104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7A96B2"/>
                  </a:solidFill>
                </a:rPr>
                <a:t> </a:t>
              </a:r>
              <a:endParaRPr lang="en-US" sz="900" dirty="0"/>
            </a:p>
          </p:txBody>
        </p:sp>
      </p:grpSp>
      <p:sp>
        <p:nvSpPr>
          <p:cNvPr id="39" name="Shape 37"/>
          <p:cNvSpPr/>
          <p:nvPr/>
        </p:nvSpPr>
        <p:spPr>
          <a:xfrm>
            <a:off x="914400" y="4607099"/>
            <a:ext cx="7315200" cy="320040"/>
          </a:xfrm>
          <a:prstGeom prst="rect">
            <a:avLst/>
          </a:prstGeom>
          <a:solidFill>
            <a:srgbClr val="2C4A6E"/>
          </a:solidFill>
          <a:ln w="12700">
            <a:solidFill>
              <a:srgbClr val="64A8D8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40" name="Text 38"/>
          <p:cNvSpPr/>
          <p:nvPr/>
        </p:nvSpPr>
        <p:spPr>
          <a:xfrm>
            <a:off x="914400" y="4625387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9A84C"/>
                </a:solidFill>
              </a:rPr>
              <a:t>Score = ln[ PD / (1 − PD) ] = β₀ + β₁X₁ + β₂X₂ + ... + βₙXₙ + ε</a:t>
            </a:r>
            <a:endParaRPr lang="en-US" sz="11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eparacion de Datos">
    <p:bg>
      <p:bgPr>
        <a:solidFill>
          <a:srgbClr val="1B2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365760" y="160000"/>
            <a:ext cx="2400000" cy="220000"/>
          </a:xfrm>
          <a:prstGeom prst="rect">
            <a:avLst/>
          </a:prstGeom>
          <a:solidFill>
            <a:srgbClr val="2C4A6E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es-MX" sz="900" b="1" dirty="0">
                <a:solidFill>
                  <a:srgbClr val="64A8D8"/>
                </a:solidFill>
              </a:rPr>
              <a:t>PASO 1 — PREPARACIÓN DE DATOS</a:t>
            </a:r>
          </a:p>
        </p:txBody>
      </p:sp>
      <p:sp>
        <p:nvSpPr>
          <p:cNvPr id="3" name="Title"/>
          <p:cNvSpPr/>
          <p:nvPr/>
        </p:nvSpPr>
        <p:spPr>
          <a:xfrm>
            <a:off x="365760" y="400000"/>
            <a:ext cx="841248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buNone/>
            </a:pPr>
            <a:r>
              <a:rPr lang="es-MX" sz="2800" b="1" dirty="0">
                <a:solidFill>
                  <a:srgbClr val="F0F4F8"/>
                </a:solidFill>
              </a:rPr>
              <a:t>Preparación de Datos</a:t>
            </a:r>
          </a:p>
        </p:txBody>
      </p:sp>
      <p:sp>
        <p:nvSpPr>
          <p:cNvPr id="4" name="Divider"/>
          <p:cNvSpPr/>
          <p:nvPr/>
        </p:nvSpPr>
        <p:spPr>
          <a:xfrm>
            <a:off x="365760" y="920000"/>
            <a:ext cx="8412480" cy="12000"/>
          </a:xfrm>
          <a:prstGeom prst="rect">
            <a:avLst/>
          </a:prstGeom>
          <a:solidFill>
            <a:srgbClr val="64A8D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Box1"/>
          <p:cNvSpPr/>
          <p:nvPr/>
        </p:nvSpPr>
        <p:spPr>
          <a:xfrm>
            <a:off x="365760" y="990000"/>
            <a:ext cx="2590000" cy="3680000"/>
          </a:xfrm>
          <a:prstGeom prst="rect">
            <a:avLst/>
          </a:prstGeom>
          <a:solidFill>
            <a:srgbClr val="1E3A52"/>
          </a:solidFill>
          <a:ln w="18000">
            <a:solidFill>
              <a:srgbClr val="64A8D8"/>
            </a:solidFill>
          </a:ln>
        </p:spPr>
        <p:txBody>
          <a:bodyPr wrap="square" lIns="182880" tIns="182880" rIns="182880" bIns="182880" rtlCol="0" anchor="t"/>
          <a:lstStyle/>
          <a:p>
            <a:pPr algn="l">
              <a:buNone/>
            </a:pPr>
            <a:r>
              <a:rPr lang="es-MX" sz="2400" b="1" dirty="0">
                <a:solidFill>
                  <a:srgbClr val="64A8D8"/>
                </a:solidFill>
              </a:rPr>
              <a:t>01  Recopilación</a:t>
            </a:r>
          </a:p>
          <a:p>
            <a:endParaRPr lang="es-MX" sz="1100" dirty="0"/>
          </a:p>
          <a:p>
            <a:pPr algn="l">
              <a:buNone/>
            </a:pPr>
            <a:r>
              <a:rPr lang="es-MX" sz="1400" b="1" dirty="0">
                <a:solidFill>
                  <a:srgbClr val="F0F4F8"/>
                </a:solidFill>
              </a:rPr>
              <a:t>Series de tiempo mensuales</a:t>
            </a:r>
          </a:p>
          <a:p>
            <a:endParaRPr lang="es-MX" sz="1200" dirty="0"/>
          </a:p>
          <a:p>
            <a:pPr algn="l">
              <a:buNone/>
            </a:pPr>
            <a:r>
              <a:rPr lang="es-MX" sz="1200" dirty="0">
                <a:solidFill>
                  <a:schemeClr val="bg2"/>
                </a:solidFill>
              </a:rPr>
              <a:t>Dic 2007 – Dic 2025 · 4 fuentes institucionales · 216 obs.</a:t>
            </a:r>
          </a:p>
          <a:p>
            <a:endParaRPr lang="es-MX" sz="1200" dirty="0"/>
          </a:p>
          <a:p>
            <a:pPr algn="l">
              <a:buNone/>
            </a:pPr>
            <a:r>
              <a:rPr lang="es-MX" sz="1200" dirty="0">
                <a:solidFill>
                  <a:srgbClr val="C9A84C"/>
                </a:solidFill>
              </a:rPr>
              <a:t>27 variables macro + IMORA TC como variable dependiente</a:t>
            </a:r>
          </a:p>
        </p:txBody>
      </p:sp>
      <p:sp>
        <p:nvSpPr>
          <p:cNvPr id="6" name="Box2"/>
          <p:cNvSpPr/>
          <p:nvPr/>
        </p:nvSpPr>
        <p:spPr>
          <a:xfrm>
            <a:off x="3071760" y="990000"/>
            <a:ext cx="2590000" cy="3680000"/>
          </a:xfrm>
          <a:prstGeom prst="rect">
            <a:avLst/>
          </a:prstGeom>
          <a:solidFill>
            <a:srgbClr val="1E3A52"/>
          </a:solidFill>
          <a:ln w="18000">
            <a:solidFill>
              <a:srgbClr val="8EC4E8"/>
            </a:solidFill>
          </a:ln>
        </p:spPr>
        <p:txBody>
          <a:bodyPr wrap="square" lIns="182880" tIns="182880" rIns="182880" bIns="182880" rtlCol="0" anchor="t"/>
          <a:lstStyle/>
          <a:p>
            <a:pPr algn="l">
              <a:buNone/>
            </a:pPr>
            <a:r>
              <a:rPr lang="es-MX" sz="2800" b="1" dirty="0">
                <a:solidFill>
                  <a:srgbClr val="8EC4E8"/>
                </a:solidFill>
              </a:rPr>
              <a:t>02  Imputación</a:t>
            </a:r>
          </a:p>
          <a:p>
            <a:endParaRPr lang="es-MX" sz="1400" dirty="0"/>
          </a:p>
          <a:p>
            <a:pPr algn="l">
              <a:buNone/>
            </a:pPr>
            <a:r>
              <a:rPr lang="es-MX" sz="1600" b="1" dirty="0">
                <a:solidFill>
                  <a:srgbClr val="F0F4F8"/>
                </a:solidFill>
              </a:rPr>
              <a:t>Promedio móvil centrado (k = 3)</a:t>
            </a:r>
          </a:p>
          <a:p>
            <a:endParaRPr lang="es-MX" sz="1400" dirty="0"/>
          </a:p>
          <a:p>
            <a:pPr algn="l">
              <a:buNone/>
            </a:pPr>
            <a:r>
              <a:rPr lang="es-MX" sz="1400" dirty="0">
                <a:solidFill>
                  <a:schemeClr val="bg2"/>
                </a:solidFill>
              </a:rPr>
              <a:t>Valores faltantes estimados con observaciones vecinas</a:t>
            </a:r>
          </a:p>
          <a:p>
            <a:endParaRPr lang="es-MX" sz="1400" dirty="0"/>
          </a:p>
          <a:p>
            <a:pPr algn="l">
              <a:buNone/>
            </a:pPr>
            <a:r>
              <a:rPr lang="es-MX" sz="1600" dirty="0">
                <a:solidFill>
                  <a:srgbClr val="C9A84C"/>
                </a:solidFill>
              </a:rPr>
              <a:t>x̂ₙ = (xₙ₋₁ + xₙ + xₙ₊₁) / 3</a:t>
            </a:r>
          </a:p>
        </p:txBody>
      </p:sp>
      <p:sp>
        <p:nvSpPr>
          <p:cNvPr id="7" name="Box3"/>
          <p:cNvSpPr/>
          <p:nvPr/>
        </p:nvSpPr>
        <p:spPr>
          <a:xfrm>
            <a:off x="5777760" y="990000"/>
            <a:ext cx="3000000" cy="3680000"/>
          </a:xfrm>
          <a:prstGeom prst="rect">
            <a:avLst/>
          </a:prstGeom>
          <a:solidFill>
            <a:srgbClr val="1E3A52"/>
          </a:solidFill>
          <a:ln w="18000">
            <a:solidFill>
              <a:srgbClr val="C9A84C"/>
            </a:solidFill>
          </a:ln>
        </p:spPr>
        <p:txBody>
          <a:bodyPr wrap="square" lIns="182880" tIns="182880" rIns="182880" bIns="182880" rtlCol="0" anchor="t"/>
          <a:lstStyle/>
          <a:p>
            <a:pPr algn="l">
              <a:buNone/>
            </a:pPr>
            <a:r>
              <a:rPr lang="es-MX" sz="2400" b="1" dirty="0">
                <a:solidFill>
                  <a:srgbClr val="C9A84C"/>
                </a:solidFill>
              </a:rPr>
              <a:t>03  Estandarización Z</a:t>
            </a:r>
          </a:p>
          <a:p>
            <a:endParaRPr lang="es-MX" sz="1200" dirty="0"/>
          </a:p>
          <a:p>
            <a:pPr algn="l">
              <a:buNone/>
            </a:pPr>
            <a:r>
              <a:rPr lang="es-MX" sz="1400" b="1" dirty="0">
                <a:solidFill>
                  <a:srgbClr val="F0F4F8"/>
                </a:solidFill>
              </a:rPr>
              <a:t>Transformación z por variable</a:t>
            </a:r>
          </a:p>
          <a:p>
            <a:endParaRPr lang="es-MX" sz="1200" dirty="0"/>
          </a:p>
          <a:p>
            <a:pPr algn="l">
              <a:buNone/>
            </a:pPr>
            <a:r>
              <a:rPr lang="es-MX" sz="1200" dirty="0">
                <a:solidFill>
                  <a:schemeClr val="bg2"/>
                </a:solidFill>
              </a:rPr>
              <a:t>Hace comparables los coeficientes β en la misma escala</a:t>
            </a:r>
          </a:p>
          <a:p>
            <a:endParaRPr lang="es-MX" sz="1200" dirty="0">
              <a:solidFill>
                <a:schemeClr val="bg2"/>
              </a:solidFill>
            </a:endParaRPr>
          </a:p>
          <a:p>
            <a:pPr algn="l">
              <a:buNone/>
            </a:pPr>
            <a:r>
              <a:rPr lang="es-MX" sz="1400" dirty="0">
                <a:solidFill>
                  <a:srgbClr val="C9A84C"/>
                </a:solidFill>
              </a:rPr>
              <a:t>Z = (X − μ) / σ</a:t>
            </a:r>
          </a:p>
        </p:txBody>
      </p:sp>
      <p:sp>
        <p:nvSpPr>
          <p:cNvPr id="8" name="Footer"/>
          <p:cNvSpPr/>
          <p:nvPr/>
        </p:nvSpPr>
        <p:spPr>
          <a:xfrm>
            <a:off x="365760" y="4760000"/>
            <a:ext cx="8412480" cy="260000"/>
          </a:xfrm>
          <a:prstGeom prst="rect">
            <a:avLst/>
          </a:prstGeom>
          <a:solidFill>
            <a:srgbClr val="2C4A6E"/>
          </a:solidFill>
          <a:ln>
            <a:noFill/>
          </a:ln>
        </p:spPr>
        <p:txBody>
          <a:bodyPr wrap="square" lIns="182880" tIns="60960" rIns="182880" bIns="60960" rtlCol="0" anchor="ctr"/>
          <a:lstStyle/>
          <a:p>
            <a:pPr algn="ctr">
              <a:buNone/>
            </a:pPr>
            <a:r>
              <a:rPr lang="es-MX" sz="800" i="1" dirty="0">
                <a:solidFill>
                  <a:srgbClr val="7A96B2"/>
                </a:solidFill>
              </a:rPr>
              <a:t>0 NAs · 27 variables estandarizadas · listas para modelado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odelado">
    <p:bg>
      <p:bgPr>
        <a:solidFill>
          <a:srgbClr val="1B2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365760" y="160000"/>
            <a:ext cx="1800000" cy="220000"/>
          </a:xfrm>
          <a:prstGeom prst="rect">
            <a:avLst/>
          </a:prstGeom>
          <a:solidFill>
            <a:srgbClr val="2C4A6E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es-MX" sz="900" b="1" dirty="0">
                <a:solidFill>
                  <a:srgbClr val="64A8D8"/>
                </a:solidFill>
              </a:rPr>
              <a:t>PASO 2 — MODELADO</a:t>
            </a:r>
          </a:p>
        </p:txBody>
      </p:sp>
      <p:sp>
        <p:nvSpPr>
          <p:cNvPr id="3" name="Title"/>
          <p:cNvSpPr/>
          <p:nvPr/>
        </p:nvSpPr>
        <p:spPr>
          <a:xfrm>
            <a:off x="365760" y="400000"/>
            <a:ext cx="841248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buNone/>
            </a:pPr>
            <a:r>
              <a:rPr lang="es-MX" sz="2800" b="1" dirty="0">
                <a:solidFill>
                  <a:srgbClr val="F0F4F8"/>
                </a:solidFill>
              </a:rPr>
              <a:t>Modelado Econométrico</a:t>
            </a:r>
          </a:p>
        </p:txBody>
      </p:sp>
      <p:sp>
        <p:nvSpPr>
          <p:cNvPr id="4" name="Divider"/>
          <p:cNvSpPr/>
          <p:nvPr/>
        </p:nvSpPr>
        <p:spPr>
          <a:xfrm>
            <a:off x="365760" y="920000"/>
            <a:ext cx="8412480" cy="12000"/>
          </a:xfrm>
          <a:prstGeom prst="rect">
            <a:avLst/>
          </a:prstGeom>
          <a:solidFill>
            <a:srgbClr val="64A8D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ColLeft"/>
          <p:cNvSpPr/>
          <p:nvPr/>
        </p:nvSpPr>
        <p:spPr>
          <a:xfrm>
            <a:off x="365760" y="990000"/>
            <a:ext cx="3900000" cy="3680000"/>
          </a:xfrm>
          <a:prstGeom prst="rect">
            <a:avLst/>
          </a:prstGeom>
          <a:solidFill>
            <a:srgbClr val="1E3A52"/>
          </a:solidFill>
          <a:ln w="18000">
            <a:solidFill>
              <a:srgbClr val="64A8D8"/>
            </a:solidFill>
          </a:ln>
        </p:spPr>
        <p:txBody>
          <a:bodyPr wrap="square" lIns="182880" tIns="182880" rIns="182880" bIns="182880" rtlCol="0" anchor="t"/>
          <a:lstStyle/>
          <a:p>
            <a:pPr algn="l">
              <a:buNone/>
            </a:pPr>
            <a:r>
              <a:rPr lang="es-MX" b="1" dirty="0">
                <a:solidFill>
                  <a:srgbClr val="64A8D8"/>
                </a:solidFill>
              </a:rPr>
              <a:t>Transformación Logit + Regresión OLS</a:t>
            </a:r>
          </a:p>
          <a:p>
            <a:endParaRPr lang="es-MX" sz="1050" dirty="0"/>
          </a:p>
          <a:p>
            <a:pPr algn="l">
              <a:buNone/>
            </a:pPr>
            <a:r>
              <a:rPr lang="es-MX" sz="1050" dirty="0">
                <a:solidFill>
                  <a:schemeClr val="bg2"/>
                </a:solidFill>
              </a:rPr>
              <a:t>El IMORA TC ∈ [0,1] — la transformación logit lo convierte en un número continuo:</a:t>
            </a:r>
          </a:p>
          <a:p>
            <a:endParaRPr lang="es-MX" sz="1050" dirty="0">
              <a:solidFill>
                <a:schemeClr val="bg2"/>
              </a:solidFill>
            </a:endParaRPr>
          </a:p>
          <a:p>
            <a:pPr algn="l">
              <a:buNone/>
            </a:pPr>
            <a:r>
              <a:rPr lang="es-MX" sz="1100" b="1" dirty="0">
                <a:solidFill>
                  <a:srgbClr val="C9A84C"/>
                </a:solidFill>
              </a:rPr>
              <a:t>Score = ln[ PD / (1 - PD) ]</a:t>
            </a:r>
          </a:p>
          <a:p>
            <a:endParaRPr lang="es-MX" sz="1050" dirty="0"/>
          </a:p>
          <a:p>
            <a:pPr algn="l">
              <a:buNone/>
            </a:pPr>
            <a:r>
              <a:rPr lang="es-MX" sz="1050" dirty="0">
                <a:solidFill>
                  <a:schemeClr val="bg2"/>
                </a:solidFill>
              </a:rPr>
              <a:t>OLS estima los coeficientes minimizando:</a:t>
            </a:r>
          </a:p>
          <a:p>
            <a:endParaRPr lang="es-MX" sz="1050" dirty="0">
              <a:solidFill>
                <a:schemeClr val="bg2"/>
              </a:solidFill>
            </a:endParaRPr>
          </a:p>
          <a:p>
            <a:pPr algn="l">
              <a:buNone/>
            </a:pPr>
            <a:r>
              <a:rPr lang="es-MX" sz="1100" b="1" dirty="0">
                <a:solidFill>
                  <a:srgbClr val="C9A84C"/>
                </a:solidFill>
              </a:rPr>
              <a:t>Score = b0 + b1X1 + ... + bnXn + e</a:t>
            </a:r>
          </a:p>
          <a:p>
            <a:endParaRPr lang="es-MX" sz="1050" dirty="0"/>
          </a:p>
          <a:p>
            <a:pPr algn="l">
              <a:buNone/>
            </a:pPr>
            <a:r>
              <a:rPr lang="es-MX" sz="1050" dirty="0">
                <a:solidFill>
                  <a:schemeClr val="bg2"/>
                </a:solidFill>
              </a:rPr>
              <a:t>S(β) = Σ(yᵢ − ŷᵢ)²</a:t>
            </a:r>
          </a:p>
        </p:txBody>
      </p:sp>
      <p:sp>
        <p:nvSpPr>
          <p:cNvPr id="6" name="ColRight"/>
          <p:cNvSpPr/>
          <p:nvPr/>
        </p:nvSpPr>
        <p:spPr>
          <a:xfrm>
            <a:off x="4377760" y="990000"/>
            <a:ext cx="4400000" cy="3680000"/>
          </a:xfrm>
          <a:prstGeom prst="rect">
            <a:avLst/>
          </a:prstGeom>
          <a:solidFill>
            <a:srgbClr val="1E3A52"/>
          </a:solidFill>
          <a:ln w="18000">
            <a:solidFill>
              <a:srgbClr val="C9A84C"/>
            </a:solidFill>
          </a:ln>
        </p:spPr>
        <p:txBody>
          <a:bodyPr wrap="square" lIns="182880" tIns="182880" rIns="182880" bIns="182880" rtlCol="0" anchor="t"/>
          <a:lstStyle/>
          <a:p>
            <a:pPr algn="l">
              <a:buNone/>
            </a:pPr>
            <a:r>
              <a:rPr lang="es-MX" sz="2000" b="1" dirty="0">
                <a:solidFill>
                  <a:srgbClr val="C9A84C"/>
                </a:solidFill>
              </a:rPr>
              <a:t>Selección Stepwise por AIC</a:t>
            </a:r>
          </a:p>
          <a:p>
            <a:endParaRPr lang="es-MX" sz="1100" dirty="0"/>
          </a:p>
          <a:p>
            <a:pPr algn="l">
              <a:buNone/>
            </a:pPr>
            <a:r>
              <a:rPr lang="es-MX" sz="1100" dirty="0">
                <a:solidFill>
                  <a:schemeClr val="bg2"/>
                </a:solidFill>
              </a:rPr>
              <a:t>Selección automática bidireccional — minimiza el AIC:</a:t>
            </a:r>
          </a:p>
          <a:p>
            <a:endParaRPr lang="es-MX" sz="1100" dirty="0"/>
          </a:p>
          <a:p>
            <a:pPr algn="l">
              <a:buNone/>
            </a:pPr>
            <a:r>
              <a:rPr lang="es-MX" sz="1200" b="1" dirty="0">
                <a:solidFill>
                  <a:srgbClr val="C9A84C"/>
                </a:solidFill>
              </a:rPr>
              <a:t>AIC = 2k - 2 ln(L)</a:t>
            </a:r>
          </a:p>
          <a:p>
            <a:endParaRPr lang="es-MX" sz="1100" dirty="0"/>
          </a:p>
          <a:p>
            <a:pPr algn="l">
              <a:buNone/>
            </a:pPr>
            <a:r>
              <a:rPr lang="es-MX" sz="1100" dirty="0">
                <a:solidFill>
                  <a:schemeClr val="bg2"/>
                </a:solidFill>
              </a:rPr>
              <a:t>k = parámetros · L = verosimilitud · menor AIC = mejor modelo</a:t>
            </a:r>
          </a:p>
          <a:p>
            <a:endParaRPr lang="es-MX" sz="1100" dirty="0">
              <a:solidFill>
                <a:schemeClr val="bg2"/>
              </a:solidFill>
            </a:endParaRPr>
          </a:p>
          <a:p>
            <a:pPr algn="l">
              <a:buNone/>
            </a:pPr>
            <a:r>
              <a:rPr lang="es-MX" sz="1100" dirty="0">
                <a:solidFill>
                  <a:schemeClr val="bg2"/>
                </a:solidFill>
              </a:rPr>
              <a:t>Resultado: Modelo 9 selecciona 13 de 27 variables</a:t>
            </a:r>
          </a:p>
          <a:p>
            <a:endParaRPr lang="es-MX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Validacion">
    <p:bg>
      <p:bgPr>
        <a:solidFill>
          <a:srgbClr val="1B2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365760" y="160000"/>
            <a:ext cx="1900000" cy="220000"/>
          </a:xfrm>
          <a:prstGeom prst="rect">
            <a:avLst/>
          </a:prstGeom>
          <a:solidFill>
            <a:srgbClr val="2C4A6E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es-MX" sz="900" b="1" dirty="0">
                <a:solidFill>
                  <a:srgbClr val="64A8D8"/>
                </a:solidFill>
              </a:rPr>
              <a:t>PASO 3 — VALIDACION</a:t>
            </a:r>
          </a:p>
        </p:txBody>
      </p:sp>
      <p:sp>
        <p:nvSpPr>
          <p:cNvPr id="3" name="Title"/>
          <p:cNvSpPr/>
          <p:nvPr/>
        </p:nvSpPr>
        <p:spPr>
          <a:xfrm>
            <a:off x="365760" y="400000"/>
            <a:ext cx="841248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buNone/>
            </a:pPr>
            <a:r>
              <a:rPr lang="es-MX" sz="2800" b="1" dirty="0">
                <a:solidFill>
                  <a:srgbClr val="F0F4F8"/>
                </a:solidFill>
              </a:rPr>
              <a:t>Validación Estadística del Modelo</a:t>
            </a:r>
          </a:p>
        </p:txBody>
      </p:sp>
      <p:sp>
        <p:nvSpPr>
          <p:cNvPr id="4" name="Divider"/>
          <p:cNvSpPr/>
          <p:nvPr/>
        </p:nvSpPr>
        <p:spPr>
          <a:xfrm>
            <a:off x="365760" y="920000"/>
            <a:ext cx="8412480" cy="12000"/>
          </a:xfrm>
          <a:prstGeom prst="rect">
            <a:avLst/>
          </a:prstGeom>
          <a:solidFill>
            <a:srgbClr val="64A8D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Box1"/>
          <p:cNvSpPr/>
          <p:nvPr/>
        </p:nvSpPr>
        <p:spPr>
          <a:xfrm>
            <a:off x="365760" y="990000"/>
            <a:ext cx="2590000" cy="3680000"/>
          </a:xfrm>
          <a:prstGeom prst="rect">
            <a:avLst/>
          </a:prstGeom>
          <a:solidFill>
            <a:srgbClr val="1E3A52"/>
          </a:solidFill>
          <a:ln w="18000">
            <a:solidFill>
              <a:srgbClr val="64A8D8"/>
            </a:solidFill>
          </a:ln>
        </p:spPr>
        <p:txBody>
          <a:bodyPr wrap="square" lIns="182880" tIns="182880" rIns="182880" bIns="182880" rtlCol="0" anchor="t"/>
          <a:lstStyle/>
          <a:p>
            <a:pPr algn="l">
              <a:buNone/>
            </a:pPr>
            <a:r>
              <a:rPr lang="es-MX" sz="2800" b="1" dirty="0">
                <a:solidFill>
                  <a:srgbClr val="64A8D8"/>
                </a:solidFill>
              </a:rPr>
              <a:t>Shapiro-Wilk</a:t>
            </a:r>
          </a:p>
          <a:p>
            <a:endParaRPr lang="es-MX" sz="1400" dirty="0"/>
          </a:p>
          <a:p>
            <a:pPr algn="l">
              <a:buNone/>
            </a:pPr>
            <a:r>
              <a:rPr lang="es-MX" sz="1600" b="1" dirty="0">
                <a:solidFill>
                  <a:srgbClr val="F0F4F8"/>
                </a:solidFill>
              </a:rPr>
              <a:t>Normalidad de residuos</a:t>
            </a:r>
          </a:p>
          <a:p>
            <a:endParaRPr lang="es-MX" sz="1400" dirty="0"/>
          </a:p>
          <a:p>
            <a:pPr algn="l">
              <a:buNone/>
            </a:pPr>
            <a:r>
              <a:rPr lang="es-MX" sz="1400" dirty="0">
                <a:solidFill>
                  <a:schemeClr val="bg2"/>
                </a:solidFill>
              </a:rPr>
              <a:t>Verifica que los residuos sigan una distribución N(0, σ²)</a:t>
            </a:r>
          </a:p>
          <a:p>
            <a:endParaRPr lang="es-MX" sz="1400" dirty="0">
              <a:solidFill>
                <a:schemeClr val="bg2"/>
              </a:solidFill>
            </a:endParaRPr>
          </a:p>
          <a:p>
            <a:pPr algn="l">
              <a:buNone/>
            </a:pPr>
            <a:r>
              <a:rPr lang="es-MX" sz="1400" dirty="0">
                <a:solidFill>
                  <a:schemeClr val="bg2"/>
                </a:solidFill>
              </a:rPr>
              <a:t>H₀: normalidad · Se rechaza si p &lt; 0.05</a:t>
            </a:r>
          </a:p>
          <a:p>
            <a:endParaRPr lang="es-MX" sz="800" dirty="0"/>
          </a:p>
        </p:txBody>
      </p:sp>
      <p:sp>
        <p:nvSpPr>
          <p:cNvPr id="6" name="Box2"/>
          <p:cNvSpPr/>
          <p:nvPr/>
        </p:nvSpPr>
        <p:spPr>
          <a:xfrm>
            <a:off x="3071760" y="990000"/>
            <a:ext cx="2590000" cy="3680000"/>
          </a:xfrm>
          <a:prstGeom prst="rect">
            <a:avLst/>
          </a:prstGeom>
          <a:solidFill>
            <a:srgbClr val="1E3A52"/>
          </a:solidFill>
          <a:ln w="18000">
            <a:solidFill>
              <a:srgbClr val="8EC4E8"/>
            </a:solidFill>
          </a:ln>
        </p:spPr>
        <p:txBody>
          <a:bodyPr wrap="square" lIns="182880" tIns="182880" rIns="182880" bIns="182880" rtlCol="0" anchor="t"/>
          <a:lstStyle/>
          <a:p>
            <a:pPr algn="l">
              <a:buNone/>
            </a:pPr>
            <a:r>
              <a:rPr lang="es-MX" sz="2400" b="1" dirty="0">
                <a:solidFill>
                  <a:srgbClr val="8EC4E8"/>
                </a:solidFill>
              </a:rPr>
              <a:t>Breusch-Pagan</a:t>
            </a:r>
          </a:p>
          <a:p>
            <a:endParaRPr lang="es-MX" sz="1200" dirty="0"/>
          </a:p>
          <a:p>
            <a:pPr algn="l">
              <a:buNone/>
            </a:pPr>
            <a:r>
              <a:rPr lang="es-MX" sz="1400" b="1" dirty="0">
                <a:solidFill>
                  <a:srgbClr val="F0F4F8"/>
                </a:solidFill>
              </a:rPr>
              <a:t>Homocedasticidad</a:t>
            </a:r>
          </a:p>
          <a:p>
            <a:endParaRPr lang="es-MX" sz="1200" dirty="0"/>
          </a:p>
          <a:p>
            <a:pPr algn="l">
              <a:buNone/>
            </a:pPr>
            <a:r>
              <a:rPr lang="es-MX" sz="1200" dirty="0">
                <a:solidFill>
                  <a:schemeClr val="bg2"/>
                </a:solidFill>
              </a:rPr>
              <a:t>Detecta si la varianza del error cambia con las variables</a:t>
            </a:r>
          </a:p>
          <a:p>
            <a:endParaRPr lang="es-MX" sz="1200" dirty="0">
              <a:solidFill>
                <a:schemeClr val="bg2"/>
              </a:solidFill>
            </a:endParaRPr>
          </a:p>
          <a:p>
            <a:pPr algn="l">
              <a:buNone/>
            </a:pPr>
            <a:r>
              <a:rPr lang="es-MX" sz="1200" dirty="0">
                <a:solidFill>
                  <a:schemeClr val="bg2"/>
                </a:solidFill>
              </a:rPr>
              <a:t>Heterocedasticidad no sesga β, pero subestima errores estándar</a:t>
            </a:r>
          </a:p>
          <a:p>
            <a:endParaRPr lang="es-MX" sz="800" dirty="0"/>
          </a:p>
        </p:txBody>
      </p:sp>
      <p:sp>
        <p:nvSpPr>
          <p:cNvPr id="7" name="Box3"/>
          <p:cNvSpPr/>
          <p:nvPr/>
        </p:nvSpPr>
        <p:spPr>
          <a:xfrm>
            <a:off x="5777760" y="990000"/>
            <a:ext cx="3000000" cy="3680000"/>
          </a:xfrm>
          <a:prstGeom prst="rect">
            <a:avLst/>
          </a:prstGeom>
          <a:solidFill>
            <a:srgbClr val="1E3A52"/>
          </a:solidFill>
          <a:ln w="18000">
            <a:solidFill>
              <a:srgbClr val="C9A84C"/>
            </a:solidFill>
          </a:ln>
        </p:spPr>
        <p:txBody>
          <a:bodyPr wrap="square" lIns="182880" tIns="182880" rIns="182880" bIns="182880" rtlCol="0" anchor="t"/>
          <a:lstStyle/>
          <a:p>
            <a:pPr algn="l">
              <a:buNone/>
            </a:pPr>
            <a:r>
              <a:rPr lang="es-MX" sz="2400" b="1" dirty="0">
                <a:solidFill>
                  <a:srgbClr val="C9A84C"/>
                </a:solidFill>
              </a:rPr>
              <a:t>Durbin-Watson</a:t>
            </a:r>
          </a:p>
          <a:p>
            <a:endParaRPr lang="es-MX" sz="1200" dirty="0"/>
          </a:p>
          <a:p>
            <a:pPr algn="l">
              <a:buNone/>
            </a:pPr>
            <a:r>
              <a:rPr lang="es-MX" sz="1400" b="1" dirty="0">
                <a:solidFill>
                  <a:srgbClr val="F0F4F8"/>
                </a:solidFill>
              </a:rPr>
              <a:t>Autocorrelacion de residuos</a:t>
            </a:r>
          </a:p>
          <a:p>
            <a:endParaRPr lang="es-MX" sz="1200" dirty="0"/>
          </a:p>
          <a:p>
            <a:pPr algn="l">
              <a:buNone/>
            </a:pPr>
            <a:r>
              <a:rPr lang="es-MX" sz="1200" dirty="0">
                <a:solidFill>
                  <a:schemeClr val="bg2"/>
                </a:solidFill>
              </a:rPr>
              <a:t>Mide autocorrelación de primer orden en series de tiempo</a:t>
            </a:r>
          </a:p>
          <a:p>
            <a:endParaRPr lang="es-MX" sz="1200" dirty="0">
              <a:solidFill>
                <a:schemeClr val="bg2"/>
              </a:solidFill>
            </a:endParaRPr>
          </a:p>
          <a:p>
            <a:pPr algn="l">
              <a:buNone/>
            </a:pPr>
            <a:r>
              <a:rPr lang="es-MX" sz="1200" dirty="0">
                <a:solidFill>
                  <a:schemeClr val="bg2"/>
                </a:solidFill>
              </a:rPr>
              <a:t>DW ≈ 2: sin autocorr. · &lt; 2: positiva · &gt; 2: negativa</a:t>
            </a:r>
          </a:p>
          <a:p>
            <a:endParaRPr lang="es-MX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64A8D8"/>
                </a:solidFill>
              </a:rPr>
              <a:t>Periodo de calibración </a:t>
            </a:r>
          </a:p>
        </p:txBody>
      </p:sp>
      <p:sp>
        <p:nvSpPr>
          <p:cNvPr id="3" name="Text 1"/>
          <p:cNvSpPr/>
          <p:nvPr/>
        </p:nvSpPr>
        <p:spPr>
          <a:xfrm>
            <a:off x="365760" y="56692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A96B2"/>
                </a:solidFill>
              </a:rPr>
              <a:t>La elección del período de entrenamiento afecta estabilidad y generalización del modelo</a:t>
            </a:r>
            <a:endParaRPr lang="en-US" sz="11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F16D86-F912-9942-FDDA-FBD97FE38E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993428"/>
            <a:ext cx="8176074" cy="3894039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64A8D8"/>
                </a:solidFill>
              </a:rPr>
              <a:t>Selección de variables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65760" y="56692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A96B2"/>
                </a:solidFill>
              </a:rPr>
              <a:t>27 variables macroeconómicas  ·  4 fuentes institucionales  ·  Dic 2007 – Dic 2025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1828800"/>
          </a:xfrm>
          <a:prstGeom prst="rect">
            <a:avLst/>
          </a:prstGeom>
          <a:solidFill>
            <a:srgbClr val="1E3A52"/>
          </a:solidFill>
          <a:ln w="12700">
            <a:solidFill>
              <a:srgbClr val="64A8D8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14800" cy="411480"/>
          </a:xfrm>
          <a:prstGeom prst="rect">
            <a:avLst/>
          </a:prstGeom>
          <a:solidFill>
            <a:srgbClr val="64A8D8"/>
          </a:solidFill>
          <a:ln w="12700">
            <a:solidFill>
              <a:srgbClr val="64A8D8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2A3B"/>
                </a:solidFill>
              </a:rPr>
              <a:t>Banxico – SIE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0" y="10789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B2A3B"/>
                </a:solidFill>
              </a:rPr>
              <a:t>13 variables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84048" y="1508760"/>
            <a:ext cx="3931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chemeClr val="bg2"/>
                </a:solidFill>
              </a:rPr>
              <a:t>CETE 28 días · TIIE · Tasa objetivo Banxico · Udibonos 3 años · Udibonos 10 años · Bono fijo 5 años · Bono fijo 10 años · Tipo de cambio FIX · Remesas familiares · Agregado M1 var. · Agregado M2 var. · Inflación subyacente · INPC</a:t>
            </a:r>
          </a:p>
        </p:txBody>
      </p:sp>
      <p:sp>
        <p:nvSpPr>
          <p:cNvPr id="9" name="Shape 7"/>
          <p:cNvSpPr/>
          <p:nvPr/>
        </p:nvSpPr>
        <p:spPr>
          <a:xfrm>
            <a:off x="4663440" y="1005840"/>
            <a:ext cx="4206240" cy="1828800"/>
          </a:xfrm>
          <a:prstGeom prst="rect">
            <a:avLst/>
          </a:prstGeom>
          <a:solidFill>
            <a:srgbClr val="1E3A52"/>
          </a:solidFill>
          <a:ln w="12700">
            <a:solidFill>
              <a:srgbClr val="8EC4E8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4206240" cy="411480"/>
          </a:xfrm>
          <a:prstGeom prst="rect">
            <a:avLst/>
          </a:prstGeom>
          <a:solidFill>
            <a:srgbClr val="8EC4E8"/>
          </a:solidFill>
          <a:ln w="12700">
            <a:solidFill>
              <a:srgbClr val="8EC4E8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11" name="Text 9"/>
          <p:cNvSpPr/>
          <p:nvPr/>
        </p:nvSpPr>
        <p:spPr>
          <a:xfrm>
            <a:off x="4754880" y="1051560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2A3B"/>
                </a:solidFill>
              </a:rPr>
              <a:t>INEGI – BIE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680960" y="10789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B2A3B"/>
                </a:solidFill>
              </a:rPr>
              <a:t>7 variables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73168" y="1508760"/>
            <a:ext cx="4023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chemeClr val="bg2"/>
                </a:solidFill>
              </a:rPr>
              <a:t>PIB · IGAE · Tasa de desocupación · Consumo privado var. · Ahorro bruto · Índice Mensual del Consumo Privado · Balance del sector </a:t>
            </a:r>
            <a:r>
              <a:rPr lang="en-US" sz="950" dirty="0" err="1">
                <a:solidFill>
                  <a:schemeClr val="bg2"/>
                </a:solidFill>
              </a:rPr>
              <a:t>público</a:t>
            </a:r>
            <a:endParaRPr lang="en-US" sz="950" dirty="0">
              <a:solidFill>
                <a:schemeClr val="bg2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74320" y="3017520"/>
            <a:ext cx="4114800" cy="1828800"/>
          </a:xfrm>
          <a:prstGeom prst="rect">
            <a:avLst/>
          </a:prstGeom>
          <a:solidFill>
            <a:srgbClr val="1E3A52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15" name="Shape 13"/>
          <p:cNvSpPr/>
          <p:nvPr/>
        </p:nvSpPr>
        <p:spPr>
          <a:xfrm>
            <a:off x="274320" y="3017520"/>
            <a:ext cx="4114800" cy="4114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16" name="Text 14"/>
          <p:cNvSpPr/>
          <p:nvPr/>
        </p:nvSpPr>
        <p:spPr>
          <a:xfrm>
            <a:off x="365760" y="30632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2A3B"/>
                </a:solidFill>
              </a:rPr>
              <a:t>CNBV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00400" y="30906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B2A3B"/>
                </a:solidFill>
              </a:rPr>
              <a:t>5 variables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84048" y="3520440"/>
            <a:ext cx="3931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chemeClr val="bg2"/>
                </a:solidFill>
              </a:rPr>
              <a:t>IMORA TC ★ · Cartera de crédito al consumo var. · Tarjetas de crédito var. · Tarjetas de crédito utilizadas var. · Cuentas de tarjetas de crédito var.</a:t>
            </a:r>
          </a:p>
        </p:txBody>
      </p:sp>
      <p:sp>
        <p:nvSpPr>
          <p:cNvPr id="19" name="Shape 17"/>
          <p:cNvSpPr/>
          <p:nvPr/>
        </p:nvSpPr>
        <p:spPr>
          <a:xfrm>
            <a:off x="4663440" y="3017520"/>
            <a:ext cx="4206240" cy="1828800"/>
          </a:xfrm>
          <a:prstGeom prst="rect">
            <a:avLst/>
          </a:prstGeom>
          <a:solidFill>
            <a:srgbClr val="1E3A52"/>
          </a:solidFill>
          <a:ln w="12700">
            <a:solidFill>
              <a:srgbClr val="8EC4E8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20" name="Shape 18"/>
          <p:cNvSpPr/>
          <p:nvPr/>
        </p:nvSpPr>
        <p:spPr>
          <a:xfrm>
            <a:off x="4663440" y="3017520"/>
            <a:ext cx="4206240" cy="411480"/>
          </a:xfrm>
          <a:prstGeom prst="rect">
            <a:avLst/>
          </a:prstGeom>
          <a:solidFill>
            <a:srgbClr val="8EC4E8"/>
          </a:solidFill>
          <a:ln w="12700">
            <a:solidFill>
              <a:srgbClr val="8EC4E8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21" name="Text 19"/>
          <p:cNvSpPr/>
          <p:nvPr/>
        </p:nvSpPr>
        <p:spPr>
          <a:xfrm>
            <a:off x="4754880" y="3063240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2A3B"/>
                </a:solidFill>
              </a:rPr>
              <a:t>BMV / IMSS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680960" y="30906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B2A3B"/>
                </a:solidFill>
              </a:rPr>
              <a:t>2 variables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73168" y="3520440"/>
            <a:ext cx="4023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chemeClr val="bg2"/>
                </a:solidFill>
              </a:rPr>
              <a:t>Índice de Precios y Cotizaciones BMV var. · Empleo formal IMSS var.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64A8D8"/>
                </a:solidFill>
              </a:rPr>
              <a:t>Multicolinealidad  </a:t>
            </a:r>
            <a:endParaRPr lang="en-US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A8962FC-D45A-6150-0F13-1E968E4841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548640"/>
            <a:ext cx="8345533" cy="4488724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64A8D8"/>
                </a:solidFill>
              </a:rPr>
              <a:t>Modelos desarrollados 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65760" y="56692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A96B2"/>
                </a:solidFill>
              </a:rPr>
              <a:t>3 tipos × 4 periodos temporales — R², AIC y validación  |  BP = Breusch-Pagan</a:t>
            </a:r>
            <a:endParaRPr lang="en-US" sz="1100" dirty="0"/>
          </a:p>
        </p:txBody>
      </p: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144140FB-E28E-E9D6-67C3-4D02CC5166D9}"/>
              </a:ext>
            </a:extLst>
          </p:cNvPr>
          <p:cNvGrpSpPr/>
          <p:nvPr/>
        </p:nvGrpSpPr>
        <p:grpSpPr>
          <a:xfrm>
            <a:off x="274319" y="960120"/>
            <a:ext cx="8616587" cy="4000500"/>
            <a:chOff x="274320" y="960120"/>
            <a:chExt cx="7086600" cy="4151376"/>
          </a:xfrm>
        </p:grpSpPr>
        <p:sp>
          <p:nvSpPr>
            <p:cNvPr id="4" name="Shape 2"/>
            <p:cNvSpPr/>
            <p:nvPr/>
          </p:nvSpPr>
          <p:spPr>
            <a:xfrm>
              <a:off x="274320" y="960120"/>
              <a:ext cx="1005840" cy="347472"/>
            </a:xfrm>
            <a:prstGeom prst="rect">
              <a:avLst/>
            </a:prstGeom>
            <a:solidFill>
              <a:srgbClr val="2C4A6E"/>
            </a:solidFill>
            <a:ln w="12700">
              <a:solidFill>
                <a:srgbClr val="2C4A6E"/>
              </a:solidFill>
              <a:prstDash val="solid"/>
            </a:ln>
          </p:spPr>
          <p:txBody>
            <a:bodyPr/>
            <a:lstStyle/>
            <a:p>
              <a:endParaRPr lang="en-MX"/>
            </a:p>
          </p:txBody>
        </p:sp>
        <p:sp>
          <p:nvSpPr>
            <p:cNvPr id="5" name="Text 3"/>
            <p:cNvSpPr/>
            <p:nvPr/>
          </p:nvSpPr>
          <p:spPr>
            <a:xfrm>
              <a:off x="274320" y="978408"/>
              <a:ext cx="100584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64A8D8"/>
                  </a:solidFill>
                </a:rPr>
                <a:t>Modelo</a:t>
              </a:r>
              <a:endParaRPr lang="en-US" sz="900" dirty="0"/>
            </a:p>
          </p:txBody>
        </p:sp>
        <p:sp>
          <p:nvSpPr>
            <p:cNvPr id="6" name="Shape 4"/>
            <p:cNvSpPr/>
            <p:nvPr/>
          </p:nvSpPr>
          <p:spPr>
            <a:xfrm>
              <a:off x="1280160" y="960120"/>
              <a:ext cx="1280160" cy="347472"/>
            </a:xfrm>
            <a:prstGeom prst="rect">
              <a:avLst/>
            </a:prstGeom>
            <a:solidFill>
              <a:srgbClr val="2C4A6E"/>
            </a:solidFill>
            <a:ln w="12700">
              <a:solidFill>
                <a:srgbClr val="2C4A6E"/>
              </a:solidFill>
              <a:prstDash val="solid"/>
            </a:ln>
          </p:spPr>
          <p:txBody>
            <a:bodyPr/>
            <a:lstStyle/>
            <a:p>
              <a:endParaRPr lang="en-MX"/>
            </a:p>
          </p:txBody>
        </p:sp>
        <p:sp>
          <p:nvSpPr>
            <p:cNvPr id="7" name="Text 5"/>
            <p:cNvSpPr/>
            <p:nvPr/>
          </p:nvSpPr>
          <p:spPr>
            <a:xfrm>
              <a:off x="1280160" y="978408"/>
              <a:ext cx="128016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64A8D8"/>
                  </a:solidFill>
                </a:rPr>
                <a:t>Periodo</a:t>
              </a:r>
              <a:endParaRPr lang="en-US" sz="9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2560320" y="960120"/>
              <a:ext cx="914400" cy="347472"/>
            </a:xfrm>
            <a:prstGeom prst="rect">
              <a:avLst/>
            </a:prstGeom>
            <a:solidFill>
              <a:srgbClr val="2C4A6E"/>
            </a:solidFill>
            <a:ln w="12700">
              <a:solidFill>
                <a:srgbClr val="2C4A6E"/>
              </a:solidFill>
              <a:prstDash val="solid"/>
            </a:ln>
          </p:spPr>
          <p:txBody>
            <a:bodyPr/>
            <a:lstStyle/>
            <a:p>
              <a:endParaRPr lang="en-MX"/>
            </a:p>
          </p:txBody>
        </p:sp>
        <p:sp>
          <p:nvSpPr>
            <p:cNvPr id="11" name="Text 9"/>
            <p:cNvSpPr/>
            <p:nvPr/>
          </p:nvSpPr>
          <p:spPr>
            <a:xfrm>
              <a:off x="2560320" y="978408"/>
              <a:ext cx="9144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64A8D8"/>
                  </a:solidFill>
                </a:rPr>
                <a:t>Variables</a:t>
              </a:r>
              <a:endParaRPr lang="en-US" sz="9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3474720" y="960120"/>
              <a:ext cx="1005840" cy="347472"/>
            </a:xfrm>
            <a:prstGeom prst="rect">
              <a:avLst/>
            </a:prstGeom>
            <a:solidFill>
              <a:srgbClr val="2C4A6E"/>
            </a:solidFill>
            <a:ln w="12700">
              <a:solidFill>
                <a:srgbClr val="2C4A6E"/>
              </a:solidFill>
              <a:prstDash val="solid"/>
            </a:ln>
          </p:spPr>
          <p:txBody>
            <a:bodyPr/>
            <a:lstStyle/>
            <a:p>
              <a:endParaRPr lang="en-MX"/>
            </a:p>
          </p:txBody>
        </p:sp>
        <p:sp>
          <p:nvSpPr>
            <p:cNvPr id="13" name="Text 11"/>
            <p:cNvSpPr/>
            <p:nvPr/>
          </p:nvSpPr>
          <p:spPr>
            <a:xfrm>
              <a:off x="3474720" y="978408"/>
              <a:ext cx="100584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64A8D8"/>
                  </a:solidFill>
                </a:rPr>
                <a:t>R² Aj.</a:t>
              </a:r>
              <a:endParaRPr lang="en-US" sz="9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4480560" y="960120"/>
              <a:ext cx="1097280" cy="347472"/>
            </a:xfrm>
            <a:prstGeom prst="rect">
              <a:avLst/>
            </a:prstGeom>
            <a:solidFill>
              <a:srgbClr val="2C4A6E"/>
            </a:solidFill>
            <a:ln w="12700">
              <a:solidFill>
                <a:srgbClr val="2C4A6E"/>
              </a:solidFill>
              <a:prstDash val="solid"/>
            </a:ln>
          </p:spPr>
          <p:txBody>
            <a:bodyPr/>
            <a:lstStyle/>
            <a:p>
              <a:endParaRPr lang="en-MX"/>
            </a:p>
          </p:txBody>
        </p:sp>
        <p:sp>
          <p:nvSpPr>
            <p:cNvPr id="15" name="Text 13"/>
            <p:cNvSpPr/>
            <p:nvPr/>
          </p:nvSpPr>
          <p:spPr>
            <a:xfrm>
              <a:off x="4480560" y="978408"/>
              <a:ext cx="10972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64A8D8"/>
                  </a:solidFill>
                </a:rPr>
                <a:t>AIC</a:t>
              </a:r>
              <a:endParaRPr lang="en-US" sz="9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5577840" y="960120"/>
              <a:ext cx="914400" cy="347472"/>
            </a:xfrm>
            <a:prstGeom prst="rect">
              <a:avLst/>
            </a:prstGeom>
            <a:solidFill>
              <a:srgbClr val="2C4A6E"/>
            </a:solidFill>
            <a:ln w="12700">
              <a:solidFill>
                <a:srgbClr val="2C4A6E"/>
              </a:solidFill>
              <a:prstDash val="solid"/>
            </a:ln>
          </p:spPr>
          <p:txBody>
            <a:bodyPr/>
            <a:lstStyle/>
            <a:p>
              <a:endParaRPr lang="en-MX"/>
            </a:p>
          </p:txBody>
        </p:sp>
        <p:sp>
          <p:nvSpPr>
            <p:cNvPr id="17" name="Text 15"/>
            <p:cNvSpPr/>
            <p:nvPr/>
          </p:nvSpPr>
          <p:spPr>
            <a:xfrm>
              <a:off x="5577840" y="978408"/>
              <a:ext cx="9144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64A8D8"/>
                  </a:solidFill>
                </a:rPr>
                <a:t>Normalidad</a:t>
              </a:r>
              <a:endParaRPr lang="en-US" sz="9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6492240" y="960120"/>
              <a:ext cx="868680" cy="347472"/>
            </a:xfrm>
            <a:prstGeom prst="rect">
              <a:avLst/>
            </a:prstGeom>
            <a:solidFill>
              <a:srgbClr val="2C4A6E"/>
            </a:solidFill>
            <a:ln w="12700">
              <a:solidFill>
                <a:srgbClr val="2C4A6E"/>
              </a:solidFill>
              <a:prstDash val="solid"/>
            </a:ln>
          </p:spPr>
          <p:txBody>
            <a:bodyPr/>
            <a:lstStyle/>
            <a:p>
              <a:endParaRPr lang="en-MX"/>
            </a:p>
          </p:txBody>
        </p:sp>
        <p:sp>
          <p:nvSpPr>
            <p:cNvPr id="19" name="Text 17"/>
            <p:cNvSpPr/>
            <p:nvPr/>
          </p:nvSpPr>
          <p:spPr>
            <a:xfrm>
              <a:off x="6492240" y="978408"/>
              <a:ext cx="8686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64A8D8"/>
                  </a:solidFill>
                </a:rPr>
                <a:t>BP</a:t>
              </a:r>
              <a:endParaRPr lang="en-US" sz="9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274320" y="1307592"/>
              <a:ext cx="1005840" cy="347472"/>
            </a:xfrm>
            <a:prstGeom prst="rect">
              <a:avLst/>
            </a:prstGeom>
            <a:solidFill>
              <a:srgbClr val="1E3A52"/>
            </a:solidFill>
            <a:ln w="12700">
              <a:solidFill>
                <a:srgbClr val="1E3A52"/>
              </a:solidFill>
              <a:prstDash val="solid"/>
            </a:ln>
          </p:spPr>
          <p:txBody>
            <a:bodyPr/>
            <a:lstStyle/>
            <a:p>
              <a:endParaRPr lang="en-MX"/>
            </a:p>
          </p:txBody>
        </p:sp>
        <p:sp>
          <p:nvSpPr>
            <p:cNvPr id="21" name="Text 19"/>
            <p:cNvSpPr/>
            <p:nvPr/>
          </p:nvSpPr>
          <p:spPr>
            <a:xfrm>
              <a:off x="274320" y="1335024"/>
              <a:ext cx="100584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F0F4F8"/>
                  </a:solidFill>
                </a:rPr>
                <a:t>Modelo 1</a:t>
              </a:r>
              <a:endParaRPr lang="en-US" sz="90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1280160" y="1307592"/>
              <a:ext cx="1280160" cy="347472"/>
            </a:xfrm>
            <a:prstGeom prst="rect">
              <a:avLst/>
            </a:prstGeom>
            <a:solidFill>
              <a:srgbClr val="1E3A52"/>
            </a:solidFill>
            <a:ln w="12700">
              <a:solidFill>
                <a:srgbClr val="1E3A52"/>
              </a:solidFill>
              <a:prstDash val="solid"/>
            </a:ln>
          </p:spPr>
          <p:txBody>
            <a:bodyPr/>
            <a:lstStyle/>
            <a:p>
              <a:endParaRPr lang="en-MX"/>
            </a:p>
          </p:txBody>
        </p:sp>
        <p:sp>
          <p:nvSpPr>
            <p:cNvPr id="23" name="Text 21"/>
            <p:cNvSpPr/>
            <p:nvPr/>
          </p:nvSpPr>
          <p:spPr>
            <a:xfrm>
              <a:off x="1280160" y="1335024"/>
              <a:ext cx="128016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F0F4F8"/>
                  </a:solidFill>
                </a:rPr>
                <a:t>2008-2025</a:t>
              </a:r>
              <a:endParaRPr lang="en-US" sz="90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2560320" y="1307592"/>
              <a:ext cx="914400" cy="347472"/>
            </a:xfrm>
            <a:prstGeom prst="rect">
              <a:avLst/>
            </a:prstGeom>
            <a:solidFill>
              <a:srgbClr val="1E3A52"/>
            </a:solidFill>
            <a:ln w="12700">
              <a:solidFill>
                <a:srgbClr val="1E3A52"/>
              </a:solidFill>
              <a:prstDash val="solid"/>
            </a:ln>
          </p:spPr>
          <p:txBody>
            <a:bodyPr/>
            <a:lstStyle/>
            <a:p>
              <a:endParaRPr lang="en-MX"/>
            </a:p>
          </p:txBody>
        </p:sp>
        <p:sp>
          <p:nvSpPr>
            <p:cNvPr id="27" name="Text 25"/>
            <p:cNvSpPr/>
            <p:nvPr/>
          </p:nvSpPr>
          <p:spPr>
            <a:xfrm>
              <a:off x="2560320" y="1335024"/>
              <a:ext cx="9144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F0F4F8"/>
                  </a:solidFill>
                </a:rPr>
                <a:t>27</a:t>
              </a:r>
              <a:endParaRPr lang="en-US" sz="900" dirty="0"/>
            </a:p>
          </p:txBody>
        </p:sp>
        <p:sp>
          <p:nvSpPr>
            <p:cNvPr id="28" name="Shape 26"/>
            <p:cNvSpPr/>
            <p:nvPr/>
          </p:nvSpPr>
          <p:spPr>
            <a:xfrm>
              <a:off x="3474720" y="1307592"/>
              <a:ext cx="1005840" cy="347472"/>
            </a:xfrm>
            <a:prstGeom prst="rect">
              <a:avLst/>
            </a:prstGeom>
            <a:solidFill>
              <a:srgbClr val="1E3A52"/>
            </a:solidFill>
            <a:ln w="12700">
              <a:solidFill>
                <a:srgbClr val="1E3A52"/>
              </a:solidFill>
              <a:prstDash val="solid"/>
            </a:ln>
          </p:spPr>
          <p:txBody>
            <a:bodyPr/>
            <a:lstStyle/>
            <a:p>
              <a:endParaRPr lang="en-MX"/>
            </a:p>
          </p:txBody>
        </p:sp>
        <p:sp>
          <p:nvSpPr>
            <p:cNvPr id="29" name="Text 27"/>
            <p:cNvSpPr/>
            <p:nvPr/>
          </p:nvSpPr>
          <p:spPr>
            <a:xfrm>
              <a:off x="3474720" y="1335024"/>
              <a:ext cx="100584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F0F4F8"/>
                  </a:solidFill>
                </a:rPr>
                <a:t>53.2%</a:t>
              </a:r>
              <a:endParaRPr lang="en-US" sz="90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4480560" y="1307592"/>
              <a:ext cx="1097280" cy="347472"/>
            </a:xfrm>
            <a:prstGeom prst="rect">
              <a:avLst/>
            </a:prstGeom>
            <a:solidFill>
              <a:srgbClr val="1E3A52"/>
            </a:solidFill>
            <a:ln w="12700">
              <a:solidFill>
                <a:srgbClr val="1E3A52"/>
              </a:solidFill>
              <a:prstDash val="solid"/>
            </a:ln>
          </p:spPr>
          <p:txBody>
            <a:bodyPr/>
            <a:lstStyle/>
            <a:p>
              <a:endParaRPr lang="en-MX"/>
            </a:p>
          </p:txBody>
        </p:sp>
        <p:sp>
          <p:nvSpPr>
            <p:cNvPr id="31" name="Text 29"/>
            <p:cNvSpPr/>
            <p:nvPr/>
          </p:nvSpPr>
          <p:spPr>
            <a:xfrm>
              <a:off x="4480560" y="1335024"/>
              <a:ext cx="10972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F0F4F8"/>
                  </a:solidFill>
                </a:rPr>
                <a:t>-14.73</a:t>
              </a:r>
              <a:endParaRPr lang="en-US" sz="90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5577840" y="1307592"/>
              <a:ext cx="914400" cy="347472"/>
            </a:xfrm>
            <a:prstGeom prst="rect">
              <a:avLst/>
            </a:prstGeom>
            <a:solidFill>
              <a:srgbClr val="1E3A52"/>
            </a:solidFill>
            <a:ln w="12700">
              <a:solidFill>
                <a:srgbClr val="1E3A52"/>
              </a:solidFill>
              <a:prstDash val="solid"/>
            </a:ln>
          </p:spPr>
          <p:txBody>
            <a:bodyPr/>
            <a:lstStyle/>
            <a:p>
              <a:endParaRPr lang="en-MX"/>
            </a:p>
          </p:txBody>
        </p:sp>
        <p:sp>
          <p:nvSpPr>
            <p:cNvPr id="33" name="Text 31"/>
            <p:cNvSpPr/>
            <p:nvPr/>
          </p:nvSpPr>
          <p:spPr>
            <a:xfrm>
              <a:off x="5577840" y="1335024"/>
              <a:ext cx="9144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8EC4E8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34" name="Shape 32"/>
            <p:cNvSpPr/>
            <p:nvPr/>
          </p:nvSpPr>
          <p:spPr>
            <a:xfrm>
              <a:off x="6492240" y="1307592"/>
              <a:ext cx="868680" cy="347472"/>
            </a:xfrm>
            <a:prstGeom prst="rect">
              <a:avLst/>
            </a:prstGeom>
            <a:solidFill>
              <a:srgbClr val="1E3A52"/>
            </a:solidFill>
            <a:ln w="12700">
              <a:solidFill>
                <a:srgbClr val="1E3A52"/>
              </a:solidFill>
              <a:prstDash val="solid"/>
            </a:ln>
          </p:spPr>
          <p:txBody>
            <a:bodyPr/>
            <a:lstStyle/>
            <a:p>
              <a:endParaRPr lang="en-MX"/>
            </a:p>
          </p:txBody>
        </p:sp>
        <p:sp>
          <p:nvSpPr>
            <p:cNvPr id="35" name="Text 33"/>
            <p:cNvSpPr/>
            <p:nvPr/>
          </p:nvSpPr>
          <p:spPr>
            <a:xfrm>
              <a:off x="6492240" y="1335024"/>
              <a:ext cx="8686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D65A5A"/>
                  </a:solidFill>
                </a:rPr>
                <a:t>✗</a:t>
              </a:r>
              <a:endParaRPr lang="en-US" sz="900" dirty="0"/>
            </a:p>
          </p:txBody>
        </p:sp>
        <p:sp>
          <p:nvSpPr>
            <p:cNvPr id="36" name="Shape 34"/>
            <p:cNvSpPr/>
            <p:nvPr/>
          </p:nvSpPr>
          <p:spPr>
            <a:xfrm>
              <a:off x="274320" y="1691640"/>
              <a:ext cx="1005840" cy="347472"/>
            </a:xfrm>
            <a:prstGeom prst="rect">
              <a:avLst/>
            </a:prstGeom>
            <a:solidFill>
              <a:srgbClr val="1B2A3B"/>
            </a:solidFill>
            <a:ln w="12700">
              <a:solidFill>
                <a:srgbClr val="1E3A52"/>
              </a:solidFill>
              <a:prstDash val="solid"/>
            </a:ln>
          </p:spPr>
          <p:txBody>
            <a:bodyPr/>
            <a:lstStyle/>
            <a:p>
              <a:endParaRPr lang="en-MX"/>
            </a:p>
          </p:txBody>
        </p:sp>
        <p:sp>
          <p:nvSpPr>
            <p:cNvPr id="37" name="Text 35"/>
            <p:cNvSpPr/>
            <p:nvPr/>
          </p:nvSpPr>
          <p:spPr>
            <a:xfrm>
              <a:off x="274320" y="1719072"/>
              <a:ext cx="100584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F0F4F8"/>
                  </a:solidFill>
                </a:rPr>
                <a:t>Modelo 2</a:t>
              </a:r>
              <a:endParaRPr lang="en-US" sz="900" dirty="0"/>
            </a:p>
          </p:txBody>
        </p:sp>
        <p:sp>
          <p:nvSpPr>
            <p:cNvPr id="38" name="Shape 36"/>
            <p:cNvSpPr/>
            <p:nvPr/>
          </p:nvSpPr>
          <p:spPr>
            <a:xfrm>
              <a:off x="1280160" y="1691640"/>
              <a:ext cx="1280160" cy="347472"/>
            </a:xfrm>
            <a:prstGeom prst="rect">
              <a:avLst/>
            </a:prstGeom>
            <a:solidFill>
              <a:srgbClr val="1B2A3B"/>
            </a:solidFill>
            <a:ln w="12700">
              <a:solidFill>
                <a:srgbClr val="1E3A52"/>
              </a:solidFill>
              <a:prstDash val="solid"/>
            </a:ln>
          </p:spPr>
          <p:txBody>
            <a:bodyPr/>
            <a:lstStyle/>
            <a:p>
              <a:endParaRPr lang="en-MX"/>
            </a:p>
          </p:txBody>
        </p:sp>
        <p:sp>
          <p:nvSpPr>
            <p:cNvPr id="39" name="Text 37"/>
            <p:cNvSpPr/>
            <p:nvPr/>
          </p:nvSpPr>
          <p:spPr>
            <a:xfrm>
              <a:off x="1280160" y="1719072"/>
              <a:ext cx="128016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F0F4F8"/>
                  </a:solidFill>
                </a:rPr>
                <a:t>2009-2025</a:t>
              </a:r>
              <a:endParaRPr lang="en-US" sz="900" dirty="0"/>
            </a:p>
          </p:txBody>
        </p:sp>
        <p:sp>
          <p:nvSpPr>
            <p:cNvPr id="42" name="Shape 40"/>
            <p:cNvSpPr/>
            <p:nvPr/>
          </p:nvSpPr>
          <p:spPr>
            <a:xfrm>
              <a:off x="2560320" y="1691640"/>
              <a:ext cx="914400" cy="347472"/>
            </a:xfrm>
            <a:prstGeom prst="rect">
              <a:avLst/>
            </a:prstGeom>
            <a:solidFill>
              <a:srgbClr val="1B2A3B"/>
            </a:solidFill>
            <a:ln w="12700">
              <a:solidFill>
                <a:srgbClr val="1E3A52"/>
              </a:solidFill>
              <a:prstDash val="solid"/>
            </a:ln>
          </p:spPr>
          <p:txBody>
            <a:bodyPr/>
            <a:lstStyle/>
            <a:p>
              <a:endParaRPr lang="en-MX"/>
            </a:p>
          </p:txBody>
        </p:sp>
        <p:sp>
          <p:nvSpPr>
            <p:cNvPr id="43" name="Text 41"/>
            <p:cNvSpPr/>
            <p:nvPr/>
          </p:nvSpPr>
          <p:spPr>
            <a:xfrm>
              <a:off x="2560320" y="1719072"/>
              <a:ext cx="9144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F0F4F8"/>
                  </a:solidFill>
                </a:rPr>
                <a:t>27</a:t>
              </a:r>
              <a:endParaRPr lang="en-US" sz="900" dirty="0"/>
            </a:p>
          </p:txBody>
        </p:sp>
        <p:sp>
          <p:nvSpPr>
            <p:cNvPr id="44" name="Shape 42"/>
            <p:cNvSpPr/>
            <p:nvPr/>
          </p:nvSpPr>
          <p:spPr>
            <a:xfrm>
              <a:off x="3474720" y="1691640"/>
              <a:ext cx="1005840" cy="347472"/>
            </a:xfrm>
            <a:prstGeom prst="rect">
              <a:avLst/>
            </a:prstGeom>
            <a:solidFill>
              <a:srgbClr val="1B2A3B"/>
            </a:solidFill>
            <a:ln w="12700">
              <a:solidFill>
                <a:srgbClr val="1E3A52"/>
              </a:solidFill>
              <a:prstDash val="solid"/>
            </a:ln>
          </p:spPr>
          <p:txBody>
            <a:bodyPr/>
            <a:lstStyle/>
            <a:p>
              <a:endParaRPr lang="en-MX"/>
            </a:p>
          </p:txBody>
        </p:sp>
        <p:sp>
          <p:nvSpPr>
            <p:cNvPr id="45" name="Text 43"/>
            <p:cNvSpPr/>
            <p:nvPr/>
          </p:nvSpPr>
          <p:spPr>
            <a:xfrm>
              <a:off x="3474720" y="1719072"/>
              <a:ext cx="100584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F0F4F8"/>
                  </a:solidFill>
                </a:rPr>
                <a:t>58.9%</a:t>
              </a:r>
              <a:endParaRPr lang="en-US" sz="900" dirty="0"/>
            </a:p>
          </p:txBody>
        </p:sp>
        <p:sp>
          <p:nvSpPr>
            <p:cNvPr id="46" name="Shape 44"/>
            <p:cNvSpPr/>
            <p:nvPr/>
          </p:nvSpPr>
          <p:spPr>
            <a:xfrm>
              <a:off x="4480560" y="1691640"/>
              <a:ext cx="1097280" cy="347472"/>
            </a:xfrm>
            <a:prstGeom prst="rect">
              <a:avLst/>
            </a:prstGeom>
            <a:solidFill>
              <a:srgbClr val="1B2A3B"/>
            </a:solidFill>
            <a:ln w="12700">
              <a:solidFill>
                <a:srgbClr val="1E3A52"/>
              </a:solidFill>
              <a:prstDash val="solid"/>
            </a:ln>
          </p:spPr>
          <p:txBody>
            <a:bodyPr/>
            <a:lstStyle/>
            <a:p>
              <a:endParaRPr lang="en-MX"/>
            </a:p>
          </p:txBody>
        </p:sp>
        <p:sp>
          <p:nvSpPr>
            <p:cNvPr id="47" name="Text 45"/>
            <p:cNvSpPr/>
            <p:nvPr/>
          </p:nvSpPr>
          <p:spPr>
            <a:xfrm>
              <a:off x="4480560" y="1719072"/>
              <a:ext cx="10972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F0F4F8"/>
                  </a:solidFill>
                </a:rPr>
                <a:t>-58.47</a:t>
              </a:r>
              <a:endParaRPr lang="en-US" sz="900" dirty="0"/>
            </a:p>
          </p:txBody>
        </p:sp>
        <p:sp>
          <p:nvSpPr>
            <p:cNvPr id="48" name="Shape 46"/>
            <p:cNvSpPr/>
            <p:nvPr/>
          </p:nvSpPr>
          <p:spPr>
            <a:xfrm>
              <a:off x="5577840" y="1691640"/>
              <a:ext cx="914400" cy="347472"/>
            </a:xfrm>
            <a:prstGeom prst="rect">
              <a:avLst/>
            </a:prstGeom>
            <a:solidFill>
              <a:srgbClr val="1B2A3B"/>
            </a:solidFill>
            <a:ln w="12700">
              <a:solidFill>
                <a:srgbClr val="1E3A52"/>
              </a:solidFill>
              <a:prstDash val="solid"/>
            </a:ln>
          </p:spPr>
          <p:txBody>
            <a:bodyPr/>
            <a:lstStyle/>
            <a:p>
              <a:endParaRPr lang="en-MX"/>
            </a:p>
          </p:txBody>
        </p:sp>
        <p:sp>
          <p:nvSpPr>
            <p:cNvPr id="49" name="Text 47"/>
            <p:cNvSpPr/>
            <p:nvPr/>
          </p:nvSpPr>
          <p:spPr>
            <a:xfrm>
              <a:off x="5577840" y="1719072"/>
              <a:ext cx="9144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8EC4E8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50" name="Shape 48"/>
            <p:cNvSpPr/>
            <p:nvPr/>
          </p:nvSpPr>
          <p:spPr>
            <a:xfrm>
              <a:off x="6492240" y="1691640"/>
              <a:ext cx="868680" cy="347472"/>
            </a:xfrm>
            <a:prstGeom prst="rect">
              <a:avLst/>
            </a:prstGeom>
            <a:solidFill>
              <a:srgbClr val="1B2A3B"/>
            </a:solidFill>
            <a:ln w="12700">
              <a:solidFill>
                <a:srgbClr val="1E3A52"/>
              </a:solidFill>
              <a:prstDash val="solid"/>
            </a:ln>
          </p:spPr>
          <p:txBody>
            <a:bodyPr/>
            <a:lstStyle/>
            <a:p>
              <a:endParaRPr lang="en-MX"/>
            </a:p>
          </p:txBody>
        </p:sp>
        <p:sp>
          <p:nvSpPr>
            <p:cNvPr id="51" name="Text 49"/>
            <p:cNvSpPr/>
            <p:nvPr/>
          </p:nvSpPr>
          <p:spPr>
            <a:xfrm>
              <a:off x="6492240" y="1719072"/>
              <a:ext cx="8686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D65A5A"/>
                  </a:solidFill>
                </a:rPr>
                <a:t>✗</a:t>
              </a:r>
              <a:endParaRPr lang="en-US" sz="900" dirty="0"/>
            </a:p>
          </p:txBody>
        </p:sp>
        <p:sp>
          <p:nvSpPr>
            <p:cNvPr id="52" name="Shape 50"/>
            <p:cNvSpPr/>
            <p:nvPr/>
          </p:nvSpPr>
          <p:spPr>
            <a:xfrm>
              <a:off x="274320" y="2075688"/>
              <a:ext cx="1005840" cy="347472"/>
            </a:xfrm>
            <a:prstGeom prst="rect">
              <a:avLst/>
            </a:prstGeom>
            <a:solidFill>
              <a:srgbClr val="1E3A52"/>
            </a:solidFill>
            <a:ln w="12700">
              <a:solidFill>
                <a:srgbClr val="1E3A52"/>
              </a:solidFill>
              <a:prstDash val="solid"/>
            </a:ln>
          </p:spPr>
          <p:txBody>
            <a:bodyPr/>
            <a:lstStyle/>
            <a:p>
              <a:endParaRPr lang="en-MX"/>
            </a:p>
          </p:txBody>
        </p:sp>
        <p:sp>
          <p:nvSpPr>
            <p:cNvPr id="53" name="Text 51"/>
            <p:cNvSpPr/>
            <p:nvPr/>
          </p:nvSpPr>
          <p:spPr>
            <a:xfrm>
              <a:off x="274320" y="2103120"/>
              <a:ext cx="100584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F0F4F8"/>
                  </a:solidFill>
                </a:rPr>
                <a:t>Modelo 3</a:t>
              </a:r>
              <a:endParaRPr lang="en-US" sz="900" dirty="0"/>
            </a:p>
          </p:txBody>
        </p:sp>
        <p:sp>
          <p:nvSpPr>
            <p:cNvPr id="54" name="Shape 52"/>
            <p:cNvSpPr/>
            <p:nvPr/>
          </p:nvSpPr>
          <p:spPr>
            <a:xfrm>
              <a:off x="1280160" y="2075688"/>
              <a:ext cx="1280160" cy="347472"/>
            </a:xfrm>
            <a:prstGeom prst="rect">
              <a:avLst/>
            </a:prstGeom>
            <a:solidFill>
              <a:srgbClr val="1E3A52"/>
            </a:solidFill>
            <a:ln w="12700">
              <a:solidFill>
                <a:srgbClr val="1E3A52"/>
              </a:solidFill>
              <a:prstDash val="solid"/>
            </a:ln>
          </p:spPr>
          <p:txBody>
            <a:bodyPr/>
            <a:lstStyle/>
            <a:p>
              <a:endParaRPr lang="en-MX"/>
            </a:p>
          </p:txBody>
        </p:sp>
        <p:sp>
          <p:nvSpPr>
            <p:cNvPr id="55" name="Text 53"/>
            <p:cNvSpPr/>
            <p:nvPr/>
          </p:nvSpPr>
          <p:spPr>
            <a:xfrm>
              <a:off x="1280160" y="2103120"/>
              <a:ext cx="128016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F0F4F8"/>
                  </a:solidFill>
                </a:rPr>
                <a:t>2013-2025</a:t>
              </a:r>
              <a:endParaRPr lang="en-US" sz="900" dirty="0"/>
            </a:p>
          </p:txBody>
        </p:sp>
        <p:sp>
          <p:nvSpPr>
            <p:cNvPr id="58" name="Shape 56"/>
            <p:cNvSpPr/>
            <p:nvPr/>
          </p:nvSpPr>
          <p:spPr>
            <a:xfrm>
              <a:off x="2560320" y="2075688"/>
              <a:ext cx="914400" cy="347472"/>
            </a:xfrm>
            <a:prstGeom prst="rect">
              <a:avLst/>
            </a:prstGeom>
            <a:solidFill>
              <a:srgbClr val="1E3A52"/>
            </a:solidFill>
            <a:ln w="12700">
              <a:solidFill>
                <a:srgbClr val="1E3A52"/>
              </a:solidFill>
              <a:prstDash val="solid"/>
            </a:ln>
          </p:spPr>
          <p:txBody>
            <a:bodyPr/>
            <a:lstStyle/>
            <a:p>
              <a:endParaRPr lang="en-MX"/>
            </a:p>
          </p:txBody>
        </p:sp>
        <p:sp>
          <p:nvSpPr>
            <p:cNvPr id="59" name="Text 57"/>
            <p:cNvSpPr/>
            <p:nvPr/>
          </p:nvSpPr>
          <p:spPr>
            <a:xfrm>
              <a:off x="2560320" y="2103120"/>
              <a:ext cx="9144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F0F4F8"/>
                  </a:solidFill>
                </a:rPr>
                <a:t>27</a:t>
              </a:r>
              <a:endParaRPr lang="en-US" sz="900" dirty="0"/>
            </a:p>
          </p:txBody>
        </p:sp>
        <p:sp>
          <p:nvSpPr>
            <p:cNvPr id="60" name="Shape 58"/>
            <p:cNvSpPr/>
            <p:nvPr/>
          </p:nvSpPr>
          <p:spPr>
            <a:xfrm>
              <a:off x="3474720" y="2075688"/>
              <a:ext cx="1005840" cy="347472"/>
            </a:xfrm>
            <a:prstGeom prst="rect">
              <a:avLst/>
            </a:prstGeom>
            <a:solidFill>
              <a:srgbClr val="1E3A52"/>
            </a:solidFill>
            <a:ln w="12700">
              <a:solidFill>
                <a:srgbClr val="1E3A52"/>
              </a:solidFill>
              <a:prstDash val="solid"/>
            </a:ln>
          </p:spPr>
          <p:txBody>
            <a:bodyPr/>
            <a:lstStyle/>
            <a:p>
              <a:endParaRPr lang="en-MX"/>
            </a:p>
          </p:txBody>
        </p:sp>
        <p:sp>
          <p:nvSpPr>
            <p:cNvPr id="61" name="Text 59"/>
            <p:cNvSpPr/>
            <p:nvPr/>
          </p:nvSpPr>
          <p:spPr>
            <a:xfrm>
              <a:off x="3474720" y="2103120"/>
              <a:ext cx="100584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F0F4F8"/>
                  </a:solidFill>
                </a:rPr>
                <a:t>81.2%</a:t>
              </a:r>
              <a:endParaRPr lang="en-US" sz="900" dirty="0"/>
            </a:p>
          </p:txBody>
        </p:sp>
        <p:sp>
          <p:nvSpPr>
            <p:cNvPr id="62" name="Shape 60"/>
            <p:cNvSpPr/>
            <p:nvPr/>
          </p:nvSpPr>
          <p:spPr>
            <a:xfrm>
              <a:off x="4480560" y="2075688"/>
              <a:ext cx="1097280" cy="347472"/>
            </a:xfrm>
            <a:prstGeom prst="rect">
              <a:avLst/>
            </a:prstGeom>
            <a:solidFill>
              <a:srgbClr val="1E3A52"/>
            </a:solidFill>
            <a:ln w="12700">
              <a:solidFill>
                <a:srgbClr val="1E3A52"/>
              </a:solidFill>
              <a:prstDash val="solid"/>
            </a:ln>
          </p:spPr>
          <p:txBody>
            <a:bodyPr/>
            <a:lstStyle/>
            <a:p>
              <a:endParaRPr lang="en-MX"/>
            </a:p>
          </p:txBody>
        </p:sp>
        <p:sp>
          <p:nvSpPr>
            <p:cNvPr id="63" name="Text 61"/>
            <p:cNvSpPr/>
            <p:nvPr/>
          </p:nvSpPr>
          <p:spPr>
            <a:xfrm>
              <a:off x="4480560" y="2103120"/>
              <a:ext cx="10972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F0F4F8"/>
                  </a:solidFill>
                </a:rPr>
                <a:t>-286.05</a:t>
              </a:r>
              <a:endParaRPr lang="en-US" sz="900" dirty="0"/>
            </a:p>
          </p:txBody>
        </p:sp>
        <p:sp>
          <p:nvSpPr>
            <p:cNvPr id="64" name="Shape 62"/>
            <p:cNvSpPr/>
            <p:nvPr/>
          </p:nvSpPr>
          <p:spPr>
            <a:xfrm>
              <a:off x="5577840" y="2075688"/>
              <a:ext cx="914400" cy="347472"/>
            </a:xfrm>
            <a:prstGeom prst="rect">
              <a:avLst/>
            </a:prstGeom>
            <a:solidFill>
              <a:srgbClr val="1E3A52"/>
            </a:solidFill>
            <a:ln w="12700">
              <a:solidFill>
                <a:srgbClr val="1E3A52"/>
              </a:solidFill>
              <a:prstDash val="solid"/>
            </a:ln>
          </p:spPr>
          <p:txBody>
            <a:bodyPr/>
            <a:lstStyle/>
            <a:p>
              <a:endParaRPr lang="en-MX"/>
            </a:p>
          </p:txBody>
        </p:sp>
        <p:sp>
          <p:nvSpPr>
            <p:cNvPr id="65" name="Text 63"/>
            <p:cNvSpPr/>
            <p:nvPr/>
          </p:nvSpPr>
          <p:spPr>
            <a:xfrm>
              <a:off x="5577840" y="2103120"/>
              <a:ext cx="9144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8EC4E8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66" name="Shape 64"/>
            <p:cNvSpPr/>
            <p:nvPr/>
          </p:nvSpPr>
          <p:spPr>
            <a:xfrm>
              <a:off x="6492240" y="2075688"/>
              <a:ext cx="868680" cy="347472"/>
            </a:xfrm>
            <a:prstGeom prst="rect">
              <a:avLst/>
            </a:prstGeom>
            <a:solidFill>
              <a:srgbClr val="1E3A52"/>
            </a:solidFill>
            <a:ln w="12700">
              <a:solidFill>
                <a:srgbClr val="1E3A52"/>
              </a:solidFill>
              <a:prstDash val="solid"/>
            </a:ln>
          </p:spPr>
          <p:txBody>
            <a:bodyPr/>
            <a:lstStyle/>
            <a:p>
              <a:endParaRPr lang="en-MX"/>
            </a:p>
          </p:txBody>
        </p:sp>
        <p:sp>
          <p:nvSpPr>
            <p:cNvPr id="67" name="Text 65"/>
            <p:cNvSpPr/>
            <p:nvPr/>
          </p:nvSpPr>
          <p:spPr>
            <a:xfrm>
              <a:off x="6492240" y="2103120"/>
              <a:ext cx="8686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D65A5A"/>
                  </a:solidFill>
                </a:rPr>
                <a:t>✗</a:t>
              </a:r>
              <a:endParaRPr lang="en-US" sz="900" dirty="0"/>
            </a:p>
          </p:txBody>
        </p:sp>
        <p:sp>
          <p:nvSpPr>
            <p:cNvPr id="68" name="Shape 66"/>
            <p:cNvSpPr/>
            <p:nvPr/>
          </p:nvSpPr>
          <p:spPr>
            <a:xfrm>
              <a:off x="274320" y="2459736"/>
              <a:ext cx="1005840" cy="347472"/>
            </a:xfrm>
            <a:prstGeom prst="rect">
              <a:avLst/>
            </a:prstGeom>
            <a:solidFill>
              <a:srgbClr val="1B2A3B"/>
            </a:solidFill>
            <a:ln w="12700">
              <a:solidFill>
                <a:srgbClr val="1E3A52"/>
              </a:solidFill>
              <a:prstDash val="solid"/>
            </a:ln>
          </p:spPr>
          <p:txBody>
            <a:bodyPr/>
            <a:lstStyle/>
            <a:p>
              <a:endParaRPr lang="en-MX"/>
            </a:p>
          </p:txBody>
        </p:sp>
        <p:sp>
          <p:nvSpPr>
            <p:cNvPr id="69" name="Text 67"/>
            <p:cNvSpPr/>
            <p:nvPr/>
          </p:nvSpPr>
          <p:spPr>
            <a:xfrm>
              <a:off x="274320" y="2487168"/>
              <a:ext cx="100584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F0F4F8"/>
                  </a:solidFill>
                </a:rPr>
                <a:t>Modelo 4</a:t>
              </a:r>
              <a:endParaRPr lang="en-US" sz="900" dirty="0"/>
            </a:p>
          </p:txBody>
        </p:sp>
        <p:sp>
          <p:nvSpPr>
            <p:cNvPr id="70" name="Shape 68"/>
            <p:cNvSpPr/>
            <p:nvPr/>
          </p:nvSpPr>
          <p:spPr>
            <a:xfrm>
              <a:off x="1280160" y="2459736"/>
              <a:ext cx="1280160" cy="347472"/>
            </a:xfrm>
            <a:prstGeom prst="rect">
              <a:avLst/>
            </a:prstGeom>
            <a:solidFill>
              <a:srgbClr val="1B2A3B"/>
            </a:solidFill>
            <a:ln w="12700">
              <a:solidFill>
                <a:srgbClr val="1E3A52"/>
              </a:solidFill>
              <a:prstDash val="solid"/>
            </a:ln>
          </p:spPr>
          <p:txBody>
            <a:bodyPr/>
            <a:lstStyle/>
            <a:p>
              <a:endParaRPr lang="en-MX"/>
            </a:p>
          </p:txBody>
        </p:sp>
        <p:sp>
          <p:nvSpPr>
            <p:cNvPr id="71" name="Text 69"/>
            <p:cNvSpPr/>
            <p:nvPr/>
          </p:nvSpPr>
          <p:spPr>
            <a:xfrm>
              <a:off x="1280160" y="2487168"/>
              <a:ext cx="128016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F0F4F8"/>
                  </a:solidFill>
                </a:rPr>
                <a:t>2018-2025</a:t>
              </a:r>
              <a:endParaRPr lang="en-US" sz="900" dirty="0"/>
            </a:p>
          </p:txBody>
        </p:sp>
        <p:sp>
          <p:nvSpPr>
            <p:cNvPr id="74" name="Shape 72"/>
            <p:cNvSpPr/>
            <p:nvPr/>
          </p:nvSpPr>
          <p:spPr>
            <a:xfrm>
              <a:off x="2560320" y="2459736"/>
              <a:ext cx="914400" cy="347472"/>
            </a:xfrm>
            <a:prstGeom prst="rect">
              <a:avLst/>
            </a:prstGeom>
            <a:solidFill>
              <a:srgbClr val="1B2A3B"/>
            </a:solidFill>
            <a:ln w="12700">
              <a:solidFill>
                <a:srgbClr val="1E3A52"/>
              </a:solidFill>
              <a:prstDash val="solid"/>
            </a:ln>
          </p:spPr>
          <p:txBody>
            <a:bodyPr/>
            <a:lstStyle/>
            <a:p>
              <a:endParaRPr lang="en-MX"/>
            </a:p>
          </p:txBody>
        </p:sp>
        <p:sp>
          <p:nvSpPr>
            <p:cNvPr id="75" name="Text 73"/>
            <p:cNvSpPr/>
            <p:nvPr/>
          </p:nvSpPr>
          <p:spPr>
            <a:xfrm>
              <a:off x="2560320" y="2487168"/>
              <a:ext cx="9144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F0F4F8"/>
                  </a:solidFill>
                </a:rPr>
                <a:t>27</a:t>
              </a:r>
              <a:endParaRPr lang="en-US" sz="900" dirty="0"/>
            </a:p>
          </p:txBody>
        </p:sp>
        <p:sp>
          <p:nvSpPr>
            <p:cNvPr id="76" name="Shape 74"/>
            <p:cNvSpPr/>
            <p:nvPr/>
          </p:nvSpPr>
          <p:spPr>
            <a:xfrm>
              <a:off x="3474720" y="2459736"/>
              <a:ext cx="1005840" cy="347472"/>
            </a:xfrm>
            <a:prstGeom prst="rect">
              <a:avLst/>
            </a:prstGeom>
            <a:solidFill>
              <a:srgbClr val="1B2A3B"/>
            </a:solidFill>
            <a:ln w="12700">
              <a:solidFill>
                <a:srgbClr val="1E3A52"/>
              </a:solidFill>
              <a:prstDash val="solid"/>
            </a:ln>
          </p:spPr>
          <p:txBody>
            <a:bodyPr/>
            <a:lstStyle/>
            <a:p>
              <a:endParaRPr lang="en-MX"/>
            </a:p>
          </p:txBody>
        </p:sp>
        <p:sp>
          <p:nvSpPr>
            <p:cNvPr id="77" name="Text 75"/>
            <p:cNvSpPr/>
            <p:nvPr/>
          </p:nvSpPr>
          <p:spPr>
            <a:xfrm>
              <a:off x="3474720" y="2487168"/>
              <a:ext cx="100584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F0F4F8"/>
                  </a:solidFill>
                </a:rPr>
                <a:t>87.6%</a:t>
              </a:r>
              <a:endParaRPr lang="en-US" sz="900" dirty="0"/>
            </a:p>
          </p:txBody>
        </p:sp>
        <p:sp>
          <p:nvSpPr>
            <p:cNvPr id="78" name="Shape 76"/>
            <p:cNvSpPr/>
            <p:nvPr/>
          </p:nvSpPr>
          <p:spPr>
            <a:xfrm>
              <a:off x="4480560" y="2459736"/>
              <a:ext cx="1097280" cy="347472"/>
            </a:xfrm>
            <a:prstGeom prst="rect">
              <a:avLst/>
            </a:prstGeom>
            <a:solidFill>
              <a:srgbClr val="1B2A3B"/>
            </a:solidFill>
            <a:ln w="12700">
              <a:solidFill>
                <a:srgbClr val="1E3A52"/>
              </a:solidFill>
              <a:prstDash val="solid"/>
            </a:ln>
          </p:spPr>
          <p:txBody>
            <a:bodyPr/>
            <a:lstStyle/>
            <a:p>
              <a:endParaRPr lang="en-MX"/>
            </a:p>
          </p:txBody>
        </p:sp>
        <p:sp>
          <p:nvSpPr>
            <p:cNvPr id="79" name="Text 77"/>
            <p:cNvSpPr/>
            <p:nvPr/>
          </p:nvSpPr>
          <p:spPr>
            <a:xfrm>
              <a:off x="4480560" y="2487168"/>
              <a:ext cx="10972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F0F4F8"/>
                  </a:solidFill>
                </a:rPr>
                <a:t>-176.33</a:t>
              </a:r>
              <a:endParaRPr lang="en-US" sz="900" dirty="0"/>
            </a:p>
          </p:txBody>
        </p:sp>
        <p:sp>
          <p:nvSpPr>
            <p:cNvPr id="80" name="Shape 78"/>
            <p:cNvSpPr/>
            <p:nvPr/>
          </p:nvSpPr>
          <p:spPr>
            <a:xfrm>
              <a:off x="5577840" y="2459736"/>
              <a:ext cx="914400" cy="347472"/>
            </a:xfrm>
            <a:prstGeom prst="rect">
              <a:avLst/>
            </a:prstGeom>
            <a:solidFill>
              <a:srgbClr val="1B2A3B"/>
            </a:solidFill>
            <a:ln w="12700">
              <a:solidFill>
                <a:srgbClr val="1E3A52"/>
              </a:solidFill>
              <a:prstDash val="solid"/>
            </a:ln>
          </p:spPr>
          <p:txBody>
            <a:bodyPr/>
            <a:lstStyle/>
            <a:p>
              <a:endParaRPr lang="en-MX"/>
            </a:p>
          </p:txBody>
        </p:sp>
        <p:sp>
          <p:nvSpPr>
            <p:cNvPr id="81" name="Text 79"/>
            <p:cNvSpPr/>
            <p:nvPr/>
          </p:nvSpPr>
          <p:spPr>
            <a:xfrm>
              <a:off x="5577840" y="2487168"/>
              <a:ext cx="9144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8EC4E8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82" name="Shape 80"/>
            <p:cNvSpPr/>
            <p:nvPr/>
          </p:nvSpPr>
          <p:spPr>
            <a:xfrm>
              <a:off x="6492240" y="2459736"/>
              <a:ext cx="868680" cy="347472"/>
            </a:xfrm>
            <a:prstGeom prst="rect">
              <a:avLst/>
            </a:prstGeom>
            <a:solidFill>
              <a:srgbClr val="1B2A3B"/>
            </a:solidFill>
            <a:ln w="12700">
              <a:solidFill>
                <a:srgbClr val="1E3A52"/>
              </a:solidFill>
              <a:prstDash val="solid"/>
            </a:ln>
          </p:spPr>
          <p:txBody>
            <a:bodyPr/>
            <a:lstStyle/>
            <a:p>
              <a:endParaRPr lang="en-MX"/>
            </a:p>
          </p:txBody>
        </p:sp>
        <p:sp>
          <p:nvSpPr>
            <p:cNvPr id="83" name="Text 81"/>
            <p:cNvSpPr/>
            <p:nvPr/>
          </p:nvSpPr>
          <p:spPr>
            <a:xfrm>
              <a:off x="6492240" y="2487168"/>
              <a:ext cx="8686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D65A5A"/>
                  </a:solidFill>
                </a:rPr>
                <a:t>✗</a:t>
              </a:r>
              <a:endParaRPr lang="en-US" sz="900" dirty="0"/>
            </a:p>
          </p:txBody>
        </p:sp>
        <p:sp>
          <p:nvSpPr>
            <p:cNvPr id="84" name="Shape 82"/>
            <p:cNvSpPr/>
            <p:nvPr/>
          </p:nvSpPr>
          <p:spPr>
            <a:xfrm>
              <a:off x="274320" y="2843784"/>
              <a:ext cx="1005840" cy="347472"/>
            </a:xfrm>
            <a:prstGeom prst="rect">
              <a:avLst/>
            </a:prstGeom>
            <a:solidFill>
              <a:srgbClr val="1E3A52"/>
            </a:solidFill>
            <a:ln w="12700">
              <a:solidFill>
                <a:srgbClr val="1E3A52"/>
              </a:solidFill>
              <a:prstDash val="solid"/>
            </a:ln>
          </p:spPr>
          <p:txBody>
            <a:bodyPr/>
            <a:lstStyle/>
            <a:p>
              <a:endParaRPr lang="en-MX"/>
            </a:p>
          </p:txBody>
        </p:sp>
        <p:sp>
          <p:nvSpPr>
            <p:cNvPr id="85" name="Text 83"/>
            <p:cNvSpPr/>
            <p:nvPr/>
          </p:nvSpPr>
          <p:spPr>
            <a:xfrm>
              <a:off x="274320" y="2871216"/>
              <a:ext cx="100584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F0F4F8"/>
                  </a:solidFill>
                </a:rPr>
                <a:t>Modelo 5</a:t>
              </a:r>
              <a:endParaRPr lang="en-US" sz="900" dirty="0"/>
            </a:p>
          </p:txBody>
        </p:sp>
        <p:sp>
          <p:nvSpPr>
            <p:cNvPr id="86" name="Shape 84"/>
            <p:cNvSpPr/>
            <p:nvPr/>
          </p:nvSpPr>
          <p:spPr>
            <a:xfrm>
              <a:off x="1280160" y="2843784"/>
              <a:ext cx="1280160" cy="347472"/>
            </a:xfrm>
            <a:prstGeom prst="rect">
              <a:avLst/>
            </a:prstGeom>
            <a:solidFill>
              <a:srgbClr val="1E3A52"/>
            </a:solidFill>
            <a:ln w="12700">
              <a:solidFill>
                <a:srgbClr val="1E3A52"/>
              </a:solidFill>
              <a:prstDash val="solid"/>
            </a:ln>
          </p:spPr>
          <p:txBody>
            <a:bodyPr/>
            <a:lstStyle/>
            <a:p>
              <a:endParaRPr lang="en-MX"/>
            </a:p>
          </p:txBody>
        </p:sp>
        <p:sp>
          <p:nvSpPr>
            <p:cNvPr id="87" name="Text 85"/>
            <p:cNvSpPr/>
            <p:nvPr/>
          </p:nvSpPr>
          <p:spPr>
            <a:xfrm>
              <a:off x="1280160" y="2871216"/>
              <a:ext cx="128016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F0F4F8"/>
                  </a:solidFill>
                </a:rPr>
                <a:t>2008-2025</a:t>
              </a:r>
              <a:endParaRPr lang="en-US" sz="900" dirty="0"/>
            </a:p>
          </p:txBody>
        </p:sp>
        <p:sp>
          <p:nvSpPr>
            <p:cNvPr id="90" name="Shape 88"/>
            <p:cNvSpPr/>
            <p:nvPr/>
          </p:nvSpPr>
          <p:spPr>
            <a:xfrm>
              <a:off x="2560320" y="2843784"/>
              <a:ext cx="914400" cy="347472"/>
            </a:xfrm>
            <a:prstGeom prst="rect">
              <a:avLst/>
            </a:prstGeom>
            <a:solidFill>
              <a:srgbClr val="1E3A52"/>
            </a:solidFill>
            <a:ln w="12700">
              <a:solidFill>
                <a:srgbClr val="1E3A52"/>
              </a:solidFill>
              <a:prstDash val="solid"/>
            </a:ln>
          </p:spPr>
          <p:txBody>
            <a:bodyPr/>
            <a:lstStyle/>
            <a:p>
              <a:endParaRPr lang="en-MX"/>
            </a:p>
          </p:txBody>
        </p:sp>
        <p:sp>
          <p:nvSpPr>
            <p:cNvPr id="91" name="Text 89"/>
            <p:cNvSpPr/>
            <p:nvPr/>
          </p:nvSpPr>
          <p:spPr>
            <a:xfrm>
              <a:off x="2560320" y="2871216"/>
              <a:ext cx="9144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F0F4F8"/>
                  </a:solidFill>
                </a:rPr>
                <a:t>10</a:t>
              </a:r>
              <a:endParaRPr lang="en-US" sz="900" dirty="0"/>
            </a:p>
          </p:txBody>
        </p:sp>
        <p:sp>
          <p:nvSpPr>
            <p:cNvPr id="92" name="Shape 90"/>
            <p:cNvSpPr/>
            <p:nvPr/>
          </p:nvSpPr>
          <p:spPr>
            <a:xfrm>
              <a:off x="3474720" y="2843784"/>
              <a:ext cx="1005840" cy="347472"/>
            </a:xfrm>
            <a:prstGeom prst="rect">
              <a:avLst/>
            </a:prstGeom>
            <a:solidFill>
              <a:srgbClr val="1E3A52"/>
            </a:solidFill>
            <a:ln w="12700">
              <a:solidFill>
                <a:srgbClr val="1E3A52"/>
              </a:solidFill>
              <a:prstDash val="solid"/>
            </a:ln>
          </p:spPr>
          <p:txBody>
            <a:bodyPr/>
            <a:lstStyle/>
            <a:p>
              <a:endParaRPr lang="en-MX"/>
            </a:p>
          </p:txBody>
        </p:sp>
        <p:sp>
          <p:nvSpPr>
            <p:cNvPr id="93" name="Text 91"/>
            <p:cNvSpPr/>
            <p:nvPr/>
          </p:nvSpPr>
          <p:spPr>
            <a:xfrm>
              <a:off x="3474720" y="2871216"/>
              <a:ext cx="100584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F0F4F8"/>
                  </a:solidFill>
                </a:rPr>
                <a:t>52.6%</a:t>
              </a:r>
              <a:endParaRPr lang="en-US" sz="900" dirty="0"/>
            </a:p>
          </p:txBody>
        </p:sp>
        <p:sp>
          <p:nvSpPr>
            <p:cNvPr id="94" name="Shape 92"/>
            <p:cNvSpPr/>
            <p:nvPr/>
          </p:nvSpPr>
          <p:spPr>
            <a:xfrm>
              <a:off x="4480560" y="2843784"/>
              <a:ext cx="1097280" cy="347472"/>
            </a:xfrm>
            <a:prstGeom prst="rect">
              <a:avLst/>
            </a:prstGeom>
            <a:solidFill>
              <a:srgbClr val="1E3A52"/>
            </a:solidFill>
            <a:ln w="12700">
              <a:solidFill>
                <a:srgbClr val="1E3A52"/>
              </a:solidFill>
              <a:prstDash val="solid"/>
            </a:ln>
          </p:spPr>
          <p:txBody>
            <a:bodyPr/>
            <a:lstStyle/>
            <a:p>
              <a:endParaRPr lang="en-MX"/>
            </a:p>
          </p:txBody>
        </p:sp>
        <p:sp>
          <p:nvSpPr>
            <p:cNvPr id="95" name="Text 93"/>
            <p:cNvSpPr/>
            <p:nvPr/>
          </p:nvSpPr>
          <p:spPr>
            <a:xfrm>
              <a:off x="4480560" y="2871216"/>
              <a:ext cx="10972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F0F4F8"/>
                  </a:solidFill>
                </a:rPr>
                <a:t>-27.03</a:t>
              </a:r>
              <a:endParaRPr lang="en-US" sz="900" dirty="0"/>
            </a:p>
          </p:txBody>
        </p:sp>
        <p:sp>
          <p:nvSpPr>
            <p:cNvPr id="96" name="Shape 94"/>
            <p:cNvSpPr/>
            <p:nvPr/>
          </p:nvSpPr>
          <p:spPr>
            <a:xfrm>
              <a:off x="5577840" y="2843784"/>
              <a:ext cx="914400" cy="347472"/>
            </a:xfrm>
            <a:prstGeom prst="rect">
              <a:avLst/>
            </a:prstGeom>
            <a:solidFill>
              <a:srgbClr val="1E3A52"/>
            </a:solidFill>
            <a:ln w="12700">
              <a:solidFill>
                <a:srgbClr val="1E3A52"/>
              </a:solidFill>
              <a:prstDash val="solid"/>
            </a:ln>
          </p:spPr>
          <p:txBody>
            <a:bodyPr/>
            <a:lstStyle/>
            <a:p>
              <a:endParaRPr lang="en-MX"/>
            </a:p>
          </p:txBody>
        </p:sp>
        <p:sp>
          <p:nvSpPr>
            <p:cNvPr id="97" name="Text 95"/>
            <p:cNvSpPr/>
            <p:nvPr/>
          </p:nvSpPr>
          <p:spPr>
            <a:xfrm>
              <a:off x="5577840" y="2871216"/>
              <a:ext cx="9144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8EC4E8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98" name="Shape 96"/>
            <p:cNvSpPr/>
            <p:nvPr/>
          </p:nvSpPr>
          <p:spPr>
            <a:xfrm>
              <a:off x="6492240" y="2843784"/>
              <a:ext cx="868680" cy="347472"/>
            </a:xfrm>
            <a:prstGeom prst="rect">
              <a:avLst/>
            </a:prstGeom>
            <a:solidFill>
              <a:srgbClr val="1E3A52"/>
            </a:solidFill>
            <a:ln w="12700">
              <a:solidFill>
                <a:srgbClr val="1E3A52"/>
              </a:solidFill>
              <a:prstDash val="solid"/>
            </a:ln>
          </p:spPr>
          <p:txBody>
            <a:bodyPr/>
            <a:lstStyle/>
            <a:p>
              <a:endParaRPr lang="en-MX"/>
            </a:p>
          </p:txBody>
        </p:sp>
        <p:sp>
          <p:nvSpPr>
            <p:cNvPr id="99" name="Text 97"/>
            <p:cNvSpPr/>
            <p:nvPr/>
          </p:nvSpPr>
          <p:spPr>
            <a:xfrm>
              <a:off x="6492240" y="2871216"/>
              <a:ext cx="8686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D65A5A"/>
                  </a:solidFill>
                </a:rPr>
                <a:t>✗</a:t>
              </a:r>
              <a:endParaRPr lang="en-US" sz="900" dirty="0"/>
            </a:p>
          </p:txBody>
        </p:sp>
        <p:sp>
          <p:nvSpPr>
            <p:cNvPr id="100" name="Shape 98"/>
            <p:cNvSpPr/>
            <p:nvPr/>
          </p:nvSpPr>
          <p:spPr>
            <a:xfrm>
              <a:off x="274320" y="3227832"/>
              <a:ext cx="1005840" cy="347472"/>
            </a:xfrm>
            <a:prstGeom prst="rect">
              <a:avLst/>
            </a:prstGeom>
            <a:solidFill>
              <a:srgbClr val="1B2A3B"/>
            </a:solidFill>
            <a:ln w="12700">
              <a:solidFill>
                <a:srgbClr val="1E3A52"/>
              </a:solidFill>
              <a:prstDash val="solid"/>
            </a:ln>
          </p:spPr>
          <p:txBody>
            <a:bodyPr/>
            <a:lstStyle/>
            <a:p>
              <a:endParaRPr lang="en-MX"/>
            </a:p>
          </p:txBody>
        </p:sp>
        <p:sp>
          <p:nvSpPr>
            <p:cNvPr id="101" name="Text 99"/>
            <p:cNvSpPr/>
            <p:nvPr/>
          </p:nvSpPr>
          <p:spPr>
            <a:xfrm>
              <a:off x="274320" y="3255264"/>
              <a:ext cx="100584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F0F4F8"/>
                  </a:solidFill>
                </a:rPr>
                <a:t>Modelo 6</a:t>
              </a:r>
              <a:endParaRPr lang="en-US" sz="900" dirty="0"/>
            </a:p>
          </p:txBody>
        </p:sp>
        <p:sp>
          <p:nvSpPr>
            <p:cNvPr id="102" name="Shape 100"/>
            <p:cNvSpPr/>
            <p:nvPr/>
          </p:nvSpPr>
          <p:spPr>
            <a:xfrm>
              <a:off x="1280160" y="3227832"/>
              <a:ext cx="1280160" cy="347472"/>
            </a:xfrm>
            <a:prstGeom prst="rect">
              <a:avLst/>
            </a:prstGeom>
            <a:solidFill>
              <a:srgbClr val="1B2A3B"/>
            </a:solidFill>
            <a:ln w="12700">
              <a:solidFill>
                <a:srgbClr val="1E3A52"/>
              </a:solidFill>
              <a:prstDash val="solid"/>
            </a:ln>
          </p:spPr>
          <p:txBody>
            <a:bodyPr/>
            <a:lstStyle/>
            <a:p>
              <a:endParaRPr lang="en-MX"/>
            </a:p>
          </p:txBody>
        </p:sp>
        <p:sp>
          <p:nvSpPr>
            <p:cNvPr id="103" name="Text 101"/>
            <p:cNvSpPr/>
            <p:nvPr/>
          </p:nvSpPr>
          <p:spPr>
            <a:xfrm>
              <a:off x="1280160" y="3255264"/>
              <a:ext cx="128016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F0F4F8"/>
                  </a:solidFill>
                </a:rPr>
                <a:t>2009-2025</a:t>
              </a:r>
              <a:endParaRPr lang="en-US" sz="900" dirty="0"/>
            </a:p>
          </p:txBody>
        </p:sp>
        <p:sp>
          <p:nvSpPr>
            <p:cNvPr id="106" name="Shape 104"/>
            <p:cNvSpPr/>
            <p:nvPr/>
          </p:nvSpPr>
          <p:spPr>
            <a:xfrm>
              <a:off x="2560320" y="3227832"/>
              <a:ext cx="914400" cy="347472"/>
            </a:xfrm>
            <a:prstGeom prst="rect">
              <a:avLst/>
            </a:prstGeom>
            <a:solidFill>
              <a:srgbClr val="1B2A3B"/>
            </a:solidFill>
            <a:ln w="12700">
              <a:solidFill>
                <a:srgbClr val="1E3A52"/>
              </a:solidFill>
              <a:prstDash val="solid"/>
            </a:ln>
          </p:spPr>
          <p:txBody>
            <a:bodyPr/>
            <a:lstStyle/>
            <a:p>
              <a:endParaRPr lang="en-MX"/>
            </a:p>
          </p:txBody>
        </p:sp>
        <p:sp>
          <p:nvSpPr>
            <p:cNvPr id="107" name="Text 105"/>
            <p:cNvSpPr/>
            <p:nvPr/>
          </p:nvSpPr>
          <p:spPr>
            <a:xfrm>
              <a:off x="2560320" y="3255264"/>
              <a:ext cx="9144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F0F4F8"/>
                  </a:solidFill>
                </a:rPr>
                <a:t>9</a:t>
              </a:r>
              <a:endParaRPr lang="en-US" sz="900" dirty="0"/>
            </a:p>
          </p:txBody>
        </p:sp>
        <p:sp>
          <p:nvSpPr>
            <p:cNvPr id="108" name="Shape 106"/>
            <p:cNvSpPr/>
            <p:nvPr/>
          </p:nvSpPr>
          <p:spPr>
            <a:xfrm>
              <a:off x="3474720" y="3227832"/>
              <a:ext cx="1005840" cy="347472"/>
            </a:xfrm>
            <a:prstGeom prst="rect">
              <a:avLst/>
            </a:prstGeom>
            <a:solidFill>
              <a:srgbClr val="1B2A3B"/>
            </a:solidFill>
            <a:ln w="12700">
              <a:solidFill>
                <a:srgbClr val="1E3A52"/>
              </a:solidFill>
              <a:prstDash val="solid"/>
            </a:ln>
          </p:spPr>
          <p:txBody>
            <a:bodyPr/>
            <a:lstStyle/>
            <a:p>
              <a:endParaRPr lang="en-MX"/>
            </a:p>
          </p:txBody>
        </p:sp>
        <p:sp>
          <p:nvSpPr>
            <p:cNvPr id="109" name="Text 107"/>
            <p:cNvSpPr/>
            <p:nvPr/>
          </p:nvSpPr>
          <p:spPr>
            <a:xfrm>
              <a:off x="3474720" y="3255264"/>
              <a:ext cx="100584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F0F4F8"/>
                  </a:solidFill>
                </a:rPr>
                <a:t>74.2%</a:t>
              </a:r>
              <a:endParaRPr lang="en-US" sz="900" dirty="0"/>
            </a:p>
          </p:txBody>
        </p:sp>
        <p:sp>
          <p:nvSpPr>
            <p:cNvPr id="110" name="Shape 108"/>
            <p:cNvSpPr/>
            <p:nvPr/>
          </p:nvSpPr>
          <p:spPr>
            <a:xfrm>
              <a:off x="4480560" y="3227832"/>
              <a:ext cx="1097280" cy="347472"/>
            </a:xfrm>
            <a:prstGeom prst="rect">
              <a:avLst/>
            </a:prstGeom>
            <a:solidFill>
              <a:srgbClr val="1B2A3B"/>
            </a:solidFill>
            <a:ln w="12700">
              <a:solidFill>
                <a:srgbClr val="1E3A52"/>
              </a:solidFill>
              <a:prstDash val="solid"/>
            </a:ln>
          </p:spPr>
          <p:txBody>
            <a:bodyPr/>
            <a:lstStyle/>
            <a:p>
              <a:endParaRPr lang="en-MX"/>
            </a:p>
          </p:txBody>
        </p:sp>
        <p:sp>
          <p:nvSpPr>
            <p:cNvPr id="111" name="Text 109"/>
            <p:cNvSpPr/>
            <p:nvPr/>
          </p:nvSpPr>
          <p:spPr>
            <a:xfrm>
              <a:off x="4480560" y="3255264"/>
              <a:ext cx="10972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F0F4F8"/>
                  </a:solidFill>
                </a:rPr>
                <a:t>-252.02</a:t>
              </a:r>
              <a:endParaRPr lang="en-US" sz="900" dirty="0"/>
            </a:p>
          </p:txBody>
        </p:sp>
        <p:sp>
          <p:nvSpPr>
            <p:cNvPr id="112" name="Shape 110"/>
            <p:cNvSpPr/>
            <p:nvPr/>
          </p:nvSpPr>
          <p:spPr>
            <a:xfrm>
              <a:off x="5577840" y="3227832"/>
              <a:ext cx="914400" cy="347472"/>
            </a:xfrm>
            <a:prstGeom prst="rect">
              <a:avLst/>
            </a:prstGeom>
            <a:solidFill>
              <a:srgbClr val="1B2A3B"/>
            </a:solidFill>
            <a:ln w="12700">
              <a:solidFill>
                <a:srgbClr val="1E3A52"/>
              </a:solidFill>
              <a:prstDash val="solid"/>
            </a:ln>
          </p:spPr>
          <p:txBody>
            <a:bodyPr/>
            <a:lstStyle/>
            <a:p>
              <a:endParaRPr lang="en-MX"/>
            </a:p>
          </p:txBody>
        </p:sp>
        <p:sp>
          <p:nvSpPr>
            <p:cNvPr id="113" name="Text 111"/>
            <p:cNvSpPr/>
            <p:nvPr/>
          </p:nvSpPr>
          <p:spPr>
            <a:xfrm>
              <a:off x="5577840" y="3255264"/>
              <a:ext cx="9144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8EC4E8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114" name="Shape 112"/>
            <p:cNvSpPr/>
            <p:nvPr/>
          </p:nvSpPr>
          <p:spPr>
            <a:xfrm>
              <a:off x="6492240" y="3227832"/>
              <a:ext cx="868680" cy="347472"/>
            </a:xfrm>
            <a:prstGeom prst="rect">
              <a:avLst/>
            </a:prstGeom>
            <a:solidFill>
              <a:srgbClr val="1B2A3B"/>
            </a:solidFill>
            <a:ln w="12700">
              <a:solidFill>
                <a:srgbClr val="1E3A52"/>
              </a:solidFill>
              <a:prstDash val="solid"/>
            </a:ln>
          </p:spPr>
          <p:txBody>
            <a:bodyPr/>
            <a:lstStyle/>
            <a:p>
              <a:endParaRPr lang="en-MX"/>
            </a:p>
          </p:txBody>
        </p:sp>
        <p:sp>
          <p:nvSpPr>
            <p:cNvPr id="115" name="Text 113"/>
            <p:cNvSpPr/>
            <p:nvPr/>
          </p:nvSpPr>
          <p:spPr>
            <a:xfrm>
              <a:off x="6492240" y="3255264"/>
              <a:ext cx="8686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D65A5A"/>
                  </a:solidFill>
                </a:rPr>
                <a:t>✗</a:t>
              </a:r>
              <a:endParaRPr lang="en-US" sz="900" dirty="0"/>
            </a:p>
          </p:txBody>
        </p:sp>
        <p:sp>
          <p:nvSpPr>
            <p:cNvPr id="116" name="Shape 114"/>
            <p:cNvSpPr/>
            <p:nvPr/>
          </p:nvSpPr>
          <p:spPr>
            <a:xfrm>
              <a:off x="274320" y="3611880"/>
              <a:ext cx="1005840" cy="347472"/>
            </a:xfrm>
            <a:prstGeom prst="rect">
              <a:avLst/>
            </a:prstGeom>
            <a:solidFill>
              <a:srgbClr val="1E3A52"/>
            </a:solidFill>
            <a:ln w="12700">
              <a:solidFill>
                <a:srgbClr val="1E3A52"/>
              </a:solidFill>
              <a:prstDash val="solid"/>
            </a:ln>
          </p:spPr>
          <p:txBody>
            <a:bodyPr/>
            <a:lstStyle/>
            <a:p>
              <a:endParaRPr lang="en-MX"/>
            </a:p>
          </p:txBody>
        </p:sp>
        <p:sp>
          <p:nvSpPr>
            <p:cNvPr id="117" name="Text 115"/>
            <p:cNvSpPr/>
            <p:nvPr/>
          </p:nvSpPr>
          <p:spPr>
            <a:xfrm>
              <a:off x="274320" y="3639312"/>
              <a:ext cx="100584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F0F4F8"/>
                  </a:solidFill>
                </a:rPr>
                <a:t>Modelo 7</a:t>
              </a:r>
              <a:endParaRPr lang="en-US" sz="900" dirty="0"/>
            </a:p>
          </p:txBody>
        </p:sp>
        <p:sp>
          <p:nvSpPr>
            <p:cNvPr id="118" name="Shape 116"/>
            <p:cNvSpPr/>
            <p:nvPr/>
          </p:nvSpPr>
          <p:spPr>
            <a:xfrm>
              <a:off x="1280160" y="3611880"/>
              <a:ext cx="1280160" cy="347472"/>
            </a:xfrm>
            <a:prstGeom prst="rect">
              <a:avLst/>
            </a:prstGeom>
            <a:solidFill>
              <a:srgbClr val="1E3A52"/>
            </a:solidFill>
            <a:ln w="12700">
              <a:solidFill>
                <a:srgbClr val="1E3A52"/>
              </a:solidFill>
              <a:prstDash val="solid"/>
            </a:ln>
          </p:spPr>
          <p:txBody>
            <a:bodyPr/>
            <a:lstStyle/>
            <a:p>
              <a:endParaRPr lang="en-MX"/>
            </a:p>
          </p:txBody>
        </p:sp>
        <p:sp>
          <p:nvSpPr>
            <p:cNvPr id="119" name="Text 117"/>
            <p:cNvSpPr/>
            <p:nvPr/>
          </p:nvSpPr>
          <p:spPr>
            <a:xfrm>
              <a:off x="1280160" y="3639312"/>
              <a:ext cx="128016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F0F4F8"/>
                  </a:solidFill>
                </a:rPr>
                <a:t>2013-2025</a:t>
              </a:r>
              <a:endParaRPr lang="en-US" sz="900" dirty="0"/>
            </a:p>
          </p:txBody>
        </p:sp>
        <p:sp>
          <p:nvSpPr>
            <p:cNvPr id="122" name="Shape 120"/>
            <p:cNvSpPr/>
            <p:nvPr/>
          </p:nvSpPr>
          <p:spPr>
            <a:xfrm>
              <a:off x="2560320" y="3611880"/>
              <a:ext cx="914400" cy="347472"/>
            </a:xfrm>
            <a:prstGeom prst="rect">
              <a:avLst/>
            </a:prstGeom>
            <a:solidFill>
              <a:srgbClr val="1E3A52"/>
            </a:solidFill>
            <a:ln w="12700">
              <a:solidFill>
                <a:srgbClr val="1E3A52"/>
              </a:solidFill>
              <a:prstDash val="solid"/>
            </a:ln>
          </p:spPr>
          <p:txBody>
            <a:bodyPr/>
            <a:lstStyle/>
            <a:p>
              <a:endParaRPr lang="en-MX"/>
            </a:p>
          </p:txBody>
        </p:sp>
        <p:sp>
          <p:nvSpPr>
            <p:cNvPr id="123" name="Text 121"/>
            <p:cNvSpPr/>
            <p:nvPr/>
          </p:nvSpPr>
          <p:spPr>
            <a:xfrm>
              <a:off x="2560320" y="3639312"/>
              <a:ext cx="9144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F0F4F8"/>
                  </a:solidFill>
                </a:rPr>
                <a:t>8</a:t>
              </a:r>
              <a:endParaRPr lang="en-US" sz="900" dirty="0"/>
            </a:p>
          </p:txBody>
        </p:sp>
        <p:sp>
          <p:nvSpPr>
            <p:cNvPr id="124" name="Shape 122"/>
            <p:cNvSpPr/>
            <p:nvPr/>
          </p:nvSpPr>
          <p:spPr>
            <a:xfrm>
              <a:off x="3474720" y="3611880"/>
              <a:ext cx="1005840" cy="347472"/>
            </a:xfrm>
            <a:prstGeom prst="rect">
              <a:avLst/>
            </a:prstGeom>
            <a:solidFill>
              <a:srgbClr val="1E3A52"/>
            </a:solidFill>
            <a:ln w="12700">
              <a:solidFill>
                <a:srgbClr val="1E3A52"/>
              </a:solidFill>
              <a:prstDash val="solid"/>
            </a:ln>
          </p:spPr>
          <p:txBody>
            <a:bodyPr/>
            <a:lstStyle/>
            <a:p>
              <a:endParaRPr lang="en-MX"/>
            </a:p>
          </p:txBody>
        </p:sp>
        <p:sp>
          <p:nvSpPr>
            <p:cNvPr id="125" name="Text 123"/>
            <p:cNvSpPr/>
            <p:nvPr/>
          </p:nvSpPr>
          <p:spPr>
            <a:xfrm>
              <a:off x="3474720" y="3639312"/>
              <a:ext cx="100584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F0F4F8"/>
                  </a:solidFill>
                </a:rPr>
                <a:t>77.5%</a:t>
              </a:r>
              <a:endParaRPr lang="en-US" sz="900" dirty="0"/>
            </a:p>
          </p:txBody>
        </p:sp>
        <p:sp>
          <p:nvSpPr>
            <p:cNvPr id="126" name="Shape 124"/>
            <p:cNvSpPr/>
            <p:nvPr/>
          </p:nvSpPr>
          <p:spPr>
            <a:xfrm>
              <a:off x="4480560" y="3611880"/>
              <a:ext cx="1097280" cy="347472"/>
            </a:xfrm>
            <a:prstGeom prst="rect">
              <a:avLst/>
            </a:prstGeom>
            <a:solidFill>
              <a:srgbClr val="1E3A52"/>
            </a:solidFill>
            <a:ln w="12700">
              <a:solidFill>
                <a:srgbClr val="1E3A52"/>
              </a:solidFill>
              <a:prstDash val="solid"/>
            </a:ln>
          </p:spPr>
          <p:txBody>
            <a:bodyPr/>
            <a:lstStyle/>
            <a:p>
              <a:endParaRPr lang="en-MX"/>
            </a:p>
          </p:txBody>
        </p:sp>
        <p:sp>
          <p:nvSpPr>
            <p:cNvPr id="127" name="Text 125"/>
            <p:cNvSpPr/>
            <p:nvPr/>
          </p:nvSpPr>
          <p:spPr>
            <a:xfrm>
              <a:off x="4480560" y="3639312"/>
              <a:ext cx="10972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F0F4F8"/>
                  </a:solidFill>
                </a:rPr>
                <a:t>-133.75</a:t>
              </a:r>
              <a:endParaRPr lang="en-US" sz="900" dirty="0"/>
            </a:p>
          </p:txBody>
        </p:sp>
        <p:sp>
          <p:nvSpPr>
            <p:cNvPr id="128" name="Shape 126"/>
            <p:cNvSpPr/>
            <p:nvPr/>
          </p:nvSpPr>
          <p:spPr>
            <a:xfrm>
              <a:off x="5577840" y="3611880"/>
              <a:ext cx="914400" cy="347472"/>
            </a:xfrm>
            <a:prstGeom prst="rect">
              <a:avLst/>
            </a:prstGeom>
            <a:solidFill>
              <a:srgbClr val="1E3A52"/>
            </a:solidFill>
            <a:ln w="12700">
              <a:solidFill>
                <a:srgbClr val="1E3A52"/>
              </a:solidFill>
              <a:prstDash val="solid"/>
            </a:ln>
          </p:spPr>
          <p:txBody>
            <a:bodyPr/>
            <a:lstStyle/>
            <a:p>
              <a:endParaRPr lang="en-MX"/>
            </a:p>
          </p:txBody>
        </p:sp>
        <p:sp>
          <p:nvSpPr>
            <p:cNvPr id="129" name="Text 127"/>
            <p:cNvSpPr/>
            <p:nvPr/>
          </p:nvSpPr>
          <p:spPr>
            <a:xfrm>
              <a:off x="5577840" y="3639312"/>
              <a:ext cx="9144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8EC4E8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130" name="Shape 128"/>
            <p:cNvSpPr/>
            <p:nvPr/>
          </p:nvSpPr>
          <p:spPr>
            <a:xfrm>
              <a:off x="6492240" y="3611880"/>
              <a:ext cx="868680" cy="347472"/>
            </a:xfrm>
            <a:prstGeom prst="rect">
              <a:avLst/>
            </a:prstGeom>
            <a:solidFill>
              <a:srgbClr val="1E3A52"/>
            </a:solidFill>
            <a:ln w="12700">
              <a:solidFill>
                <a:srgbClr val="1E3A52"/>
              </a:solidFill>
              <a:prstDash val="solid"/>
            </a:ln>
          </p:spPr>
          <p:txBody>
            <a:bodyPr/>
            <a:lstStyle/>
            <a:p>
              <a:endParaRPr lang="en-MX"/>
            </a:p>
          </p:txBody>
        </p:sp>
        <p:sp>
          <p:nvSpPr>
            <p:cNvPr id="131" name="Text 129"/>
            <p:cNvSpPr/>
            <p:nvPr/>
          </p:nvSpPr>
          <p:spPr>
            <a:xfrm>
              <a:off x="6492240" y="3639312"/>
              <a:ext cx="8686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D65A5A"/>
                  </a:solidFill>
                </a:rPr>
                <a:t>✗</a:t>
              </a:r>
              <a:endParaRPr lang="en-US" sz="900" dirty="0"/>
            </a:p>
          </p:txBody>
        </p:sp>
        <p:sp>
          <p:nvSpPr>
            <p:cNvPr id="132" name="Shape 130"/>
            <p:cNvSpPr/>
            <p:nvPr/>
          </p:nvSpPr>
          <p:spPr>
            <a:xfrm>
              <a:off x="274320" y="3995928"/>
              <a:ext cx="1005840" cy="347472"/>
            </a:xfrm>
            <a:prstGeom prst="rect">
              <a:avLst/>
            </a:prstGeom>
            <a:solidFill>
              <a:srgbClr val="1B2A3B"/>
            </a:solidFill>
            <a:ln w="12700">
              <a:solidFill>
                <a:srgbClr val="1E3A52"/>
              </a:solidFill>
              <a:prstDash val="solid"/>
            </a:ln>
          </p:spPr>
          <p:txBody>
            <a:bodyPr/>
            <a:lstStyle/>
            <a:p>
              <a:endParaRPr lang="en-MX"/>
            </a:p>
          </p:txBody>
        </p:sp>
        <p:sp>
          <p:nvSpPr>
            <p:cNvPr id="133" name="Text 131"/>
            <p:cNvSpPr/>
            <p:nvPr/>
          </p:nvSpPr>
          <p:spPr>
            <a:xfrm>
              <a:off x="274320" y="4023360"/>
              <a:ext cx="100584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F0F4F8"/>
                  </a:solidFill>
                </a:rPr>
                <a:t>Modelo 8</a:t>
              </a:r>
              <a:endParaRPr lang="en-US" sz="900" dirty="0"/>
            </a:p>
          </p:txBody>
        </p:sp>
        <p:sp>
          <p:nvSpPr>
            <p:cNvPr id="134" name="Shape 132"/>
            <p:cNvSpPr/>
            <p:nvPr/>
          </p:nvSpPr>
          <p:spPr>
            <a:xfrm>
              <a:off x="1280160" y="3995928"/>
              <a:ext cx="1280160" cy="347472"/>
            </a:xfrm>
            <a:prstGeom prst="rect">
              <a:avLst/>
            </a:prstGeom>
            <a:solidFill>
              <a:srgbClr val="1B2A3B"/>
            </a:solidFill>
            <a:ln w="12700">
              <a:solidFill>
                <a:srgbClr val="1E3A52"/>
              </a:solidFill>
              <a:prstDash val="solid"/>
            </a:ln>
          </p:spPr>
          <p:txBody>
            <a:bodyPr/>
            <a:lstStyle/>
            <a:p>
              <a:endParaRPr lang="en-MX"/>
            </a:p>
          </p:txBody>
        </p:sp>
        <p:sp>
          <p:nvSpPr>
            <p:cNvPr id="135" name="Text 133"/>
            <p:cNvSpPr/>
            <p:nvPr/>
          </p:nvSpPr>
          <p:spPr>
            <a:xfrm>
              <a:off x="1280160" y="4023360"/>
              <a:ext cx="128016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F0F4F8"/>
                  </a:solidFill>
                </a:rPr>
                <a:t>2008-2025</a:t>
              </a:r>
              <a:endParaRPr lang="en-US" sz="900" dirty="0"/>
            </a:p>
          </p:txBody>
        </p:sp>
        <p:sp>
          <p:nvSpPr>
            <p:cNvPr id="138" name="Shape 136"/>
            <p:cNvSpPr/>
            <p:nvPr/>
          </p:nvSpPr>
          <p:spPr>
            <a:xfrm>
              <a:off x="2560320" y="3995928"/>
              <a:ext cx="914400" cy="347472"/>
            </a:xfrm>
            <a:prstGeom prst="rect">
              <a:avLst/>
            </a:prstGeom>
            <a:solidFill>
              <a:srgbClr val="1B2A3B"/>
            </a:solidFill>
            <a:ln w="12700">
              <a:solidFill>
                <a:srgbClr val="1E3A52"/>
              </a:solidFill>
              <a:prstDash val="solid"/>
            </a:ln>
          </p:spPr>
          <p:txBody>
            <a:bodyPr/>
            <a:lstStyle/>
            <a:p>
              <a:endParaRPr lang="en-MX"/>
            </a:p>
          </p:txBody>
        </p:sp>
        <p:sp>
          <p:nvSpPr>
            <p:cNvPr id="139" name="Text 137"/>
            <p:cNvSpPr/>
            <p:nvPr/>
          </p:nvSpPr>
          <p:spPr>
            <a:xfrm>
              <a:off x="2560320" y="4023360"/>
              <a:ext cx="9144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F0F4F8"/>
                  </a:solidFill>
                </a:rPr>
                <a:t>11</a:t>
              </a:r>
              <a:endParaRPr lang="en-US" sz="900" dirty="0"/>
            </a:p>
          </p:txBody>
        </p:sp>
        <p:sp>
          <p:nvSpPr>
            <p:cNvPr id="140" name="Shape 138"/>
            <p:cNvSpPr/>
            <p:nvPr/>
          </p:nvSpPr>
          <p:spPr>
            <a:xfrm>
              <a:off x="3474720" y="3995928"/>
              <a:ext cx="1005840" cy="347472"/>
            </a:xfrm>
            <a:prstGeom prst="rect">
              <a:avLst/>
            </a:prstGeom>
            <a:solidFill>
              <a:srgbClr val="1B2A3B"/>
            </a:solidFill>
            <a:ln w="12700">
              <a:solidFill>
                <a:srgbClr val="1E3A52"/>
              </a:solidFill>
              <a:prstDash val="solid"/>
            </a:ln>
          </p:spPr>
          <p:txBody>
            <a:bodyPr/>
            <a:lstStyle/>
            <a:p>
              <a:endParaRPr lang="en-MX"/>
            </a:p>
          </p:txBody>
        </p:sp>
        <p:sp>
          <p:nvSpPr>
            <p:cNvPr id="141" name="Text 139"/>
            <p:cNvSpPr/>
            <p:nvPr/>
          </p:nvSpPr>
          <p:spPr>
            <a:xfrm>
              <a:off x="3474720" y="4023360"/>
              <a:ext cx="100584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F0F4F8"/>
                  </a:solidFill>
                </a:rPr>
                <a:t>55.8%</a:t>
              </a:r>
              <a:endParaRPr lang="en-US" sz="900" dirty="0"/>
            </a:p>
          </p:txBody>
        </p:sp>
        <p:sp>
          <p:nvSpPr>
            <p:cNvPr id="142" name="Shape 140"/>
            <p:cNvSpPr/>
            <p:nvPr/>
          </p:nvSpPr>
          <p:spPr>
            <a:xfrm>
              <a:off x="4480560" y="3995928"/>
              <a:ext cx="1097280" cy="347472"/>
            </a:xfrm>
            <a:prstGeom prst="rect">
              <a:avLst/>
            </a:prstGeom>
            <a:solidFill>
              <a:srgbClr val="1B2A3B"/>
            </a:solidFill>
            <a:ln w="12700">
              <a:solidFill>
                <a:srgbClr val="1E3A52"/>
              </a:solidFill>
              <a:prstDash val="solid"/>
            </a:ln>
          </p:spPr>
          <p:txBody>
            <a:bodyPr/>
            <a:lstStyle/>
            <a:p>
              <a:endParaRPr lang="en-MX"/>
            </a:p>
          </p:txBody>
        </p:sp>
        <p:sp>
          <p:nvSpPr>
            <p:cNvPr id="143" name="Text 141"/>
            <p:cNvSpPr/>
            <p:nvPr/>
          </p:nvSpPr>
          <p:spPr>
            <a:xfrm>
              <a:off x="4480560" y="4023360"/>
              <a:ext cx="10972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F0F4F8"/>
                  </a:solidFill>
                </a:rPr>
                <a:t>-40.53</a:t>
              </a:r>
              <a:endParaRPr lang="en-US" sz="900" dirty="0"/>
            </a:p>
          </p:txBody>
        </p:sp>
        <p:sp>
          <p:nvSpPr>
            <p:cNvPr id="144" name="Shape 142"/>
            <p:cNvSpPr/>
            <p:nvPr/>
          </p:nvSpPr>
          <p:spPr>
            <a:xfrm>
              <a:off x="5577840" y="3995928"/>
              <a:ext cx="914400" cy="347472"/>
            </a:xfrm>
            <a:prstGeom prst="rect">
              <a:avLst/>
            </a:prstGeom>
            <a:solidFill>
              <a:srgbClr val="1B2A3B"/>
            </a:solidFill>
            <a:ln w="12700">
              <a:solidFill>
                <a:srgbClr val="1E3A52"/>
              </a:solidFill>
              <a:prstDash val="solid"/>
            </a:ln>
          </p:spPr>
          <p:txBody>
            <a:bodyPr/>
            <a:lstStyle/>
            <a:p>
              <a:endParaRPr lang="en-MX"/>
            </a:p>
          </p:txBody>
        </p:sp>
        <p:sp>
          <p:nvSpPr>
            <p:cNvPr id="145" name="Text 143"/>
            <p:cNvSpPr/>
            <p:nvPr/>
          </p:nvSpPr>
          <p:spPr>
            <a:xfrm>
              <a:off x="5577840" y="4023360"/>
              <a:ext cx="9144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8EC4E8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146" name="Shape 144"/>
            <p:cNvSpPr/>
            <p:nvPr/>
          </p:nvSpPr>
          <p:spPr>
            <a:xfrm>
              <a:off x="6492240" y="3995928"/>
              <a:ext cx="868680" cy="347472"/>
            </a:xfrm>
            <a:prstGeom prst="rect">
              <a:avLst/>
            </a:prstGeom>
            <a:solidFill>
              <a:srgbClr val="1B2A3B"/>
            </a:solidFill>
            <a:ln w="12700">
              <a:solidFill>
                <a:srgbClr val="1E3A52"/>
              </a:solidFill>
              <a:prstDash val="solid"/>
            </a:ln>
          </p:spPr>
          <p:txBody>
            <a:bodyPr/>
            <a:lstStyle/>
            <a:p>
              <a:endParaRPr lang="en-MX"/>
            </a:p>
          </p:txBody>
        </p:sp>
        <p:sp>
          <p:nvSpPr>
            <p:cNvPr id="147" name="Text 145"/>
            <p:cNvSpPr/>
            <p:nvPr/>
          </p:nvSpPr>
          <p:spPr>
            <a:xfrm>
              <a:off x="6492240" y="4023360"/>
              <a:ext cx="8686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D65A5A"/>
                  </a:solidFill>
                </a:rPr>
                <a:t>✗</a:t>
              </a:r>
              <a:endParaRPr lang="en-US" sz="900" dirty="0"/>
            </a:p>
          </p:txBody>
        </p:sp>
        <p:sp>
          <p:nvSpPr>
            <p:cNvPr id="148" name="Shape 146"/>
            <p:cNvSpPr/>
            <p:nvPr/>
          </p:nvSpPr>
          <p:spPr>
            <a:xfrm>
              <a:off x="274320" y="4379976"/>
              <a:ext cx="1005840" cy="347472"/>
            </a:xfrm>
            <a:prstGeom prst="rect">
              <a:avLst/>
            </a:prstGeom>
            <a:solidFill>
              <a:srgbClr val="2C4A6E"/>
            </a:solidFill>
            <a:ln w="12700">
              <a:solidFill>
                <a:srgbClr val="8EC4E8"/>
              </a:solidFill>
              <a:prstDash val="solid"/>
            </a:ln>
          </p:spPr>
          <p:txBody>
            <a:bodyPr/>
            <a:lstStyle/>
            <a:p>
              <a:endParaRPr lang="en-MX"/>
            </a:p>
          </p:txBody>
        </p:sp>
        <p:sp>
          <p:nvSpPr>
            <p:cNvPr id="149" name="Text 147"/>
            <p:cNvSpPr/>
            <p:nvPr/>
          </p:nvSpPr>
          <p:spPr>
            <a:xfrm>
              <a:off x="274320" y="4407408"/>
              <a:ext cx="100584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C9A84C"/>
                  </a:solidFill>
                </a:rPr>
                <a:t>Modelo 9 ★</a:t>
              </a:r>
              <a:endParaRPr lang="en-US" sz="900" dirty="0"/>
            </a:p>
          </p:txBody>
        </p:sp>
        <p:sp>
          <p:nvSpPr>
            <p:cNvPr id="150" name="Shape 148"/>
            <p:cNvSpPr/>
            <p:nvPr/>
          </p:nvSpPr>
          <p:spPr>
            <a:xfrm>
              <a:off x="1280160" y="4379976"/>
              <a:ext cx="1280160" cy="347472"/>
            </a:xfrm>
            <a:prstGeom prst="rect">
              <a:avLst/>
            </a:prstGeom>
            <a:solidFill>
              <a:srgbClr val="2C4A6E"/>
            </a:solidFill>
            <a:ln w="12700">
              <a:solidFill>
                <a:srgbClr val="8EC4E8"/>
              </a:solidFill>
              <a:prstDash val="solid"/>
            </a:ln>
          </p:spPr>
          <p:txBody>
            <a:bodyPr/>
            <a:lstStyle/>
            <a:p>
              <a:endParaRPr lang="en-MX"/>
            </a:p>
          </p:txBody>
        </p:sp>
        <p:sp>
          <p:nvSpPr>
            <p:cNvPr id="151" name="Text 149"/>
            <p:cNvSpPr/>
            <p:nvPr/>
          </p:nvSpPr>
          <p:spPr>
            <a:xfrm>
              <a:off x="1280160" y="4407408"/>
              <a:ext cx="128016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C9A84C"/>
                  </a:solidFill>
                </a:rPr>
                <a:t>2013-2025</a:t>
              </a:r>
              <a:endParaRPr lang="en-US" sz="900" dirty="0"/>
            </a:p>
          </p:txBody>
        </p:sp>
        <p:sp>
          <p:nvSpPr>
            <p:cNvPr id="154" name="Shape 152"/>
            <p:cNvSpPr/>
            <p:nvPr/>
          </p:nvSpPr>
          <p:spPr>
            <a:xfrm>
              <a:off x="2560320" y="4379976"/>
              <a:ext cx="914400" cy="347472"/>
            </a:xfrm>
            <a:prstGeom prst="rect">
              <a:avLst/>
            </a:prstGeom>
            <a:solidFill>
              <a:srgbClr val="2C4A6E"/>
            </a:solidFill>
            <a:ln w="12700">
              <a:solidFill>
                <a:srgbClr val="8EC4E8"/>
              </a:solidFill>
              <a:prstDash val="solid"/>
            </a:ln>
          </p:spPr>
          <p:txBody>
            <a:bodyPr/>
            <a:lstStyle/>
            <a:p>
              <a:endParaRPr lang="en-MX"/>
            </a:p>
          </p:txBody>
        </p:sp>
        <p:sp>
          <p:nvSpPr>
            <p:cNvPr id="155" name="Text 153"/>
            <p:cNvSpPr/>
            <p:nvPr/>
          </p:nvSpPr>
          <p:spPr>
            <a:xfrm>
              <a:off x="2560320" y="4407408"/>
              <a:ext cx="9144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C9A84C"/>
                  </a:solidFill>
                </a:rPr>
                <a:t>13</a:t>
              </a:r>
              <a:endParaRPr lang="en-US" sz="900" dirty="0"/>
            </a:p>
          </p:txBody>
        </p:sp>
        <p:sp>
          <p:nvSpPr>
            <p:cNvPr id="156" name="Shape 154"/>
            <p:cNvSpPr/>
            <p:nvPr/>
          </p:nvSpPr>
          <p:spPr>
            <a:xfrm>
              <a:off x="3474720" y="4379976"/>
              <a:ext cx="1005840" cy="347472"/>
            </a:xfrm>
            <a:prstGeom prst="rect">
              <a:avLst/>
            </a:prstGeom>
            <a:solidFill>
              <a:srgbClr val="2C4A6E"/>
            </a:solidFill>
            <a:ln w="12700">
              <a:solidFill>
                <a:srgbClr val="8EC4E8"/>
              </a:solidFill>
              <a:prstDash val="solid"/>
            </a:ln>
          </p:spPr>
          <p:txBody>
            <a:bodyPr/>
            <a:lstStyle/>
            <a:p>
              <a:endParaRPr lang="en-MX"/>
            </a:p>
          </p:txBody>
        </p:sp>
        <p:sp>
          <p:nvSpPr>
            <p:cNvPr id="157" name="Text 155"/>
            <p:cNvSpPr/>
            <p:nvPr/>
          </p:nvSpPr>
          <p:spPr>
            <a:xfrm>
              <a:off x="3474720" y="4407408"/>
              <a:ext cx="100584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C9A84C"/>
                  </a:solidFill>
                </a:rPr>
                <a:t>82.4%</a:t>
              </a:r>
              <a:endParaRPr lang="en-US" sz="900" dirty="0"/>
            </a:p>
          </p:txBody>
        </p:sp>
        <p:sp>
          <p:nvSpPr>
            <p:cNvPr id="158" name="Shape 156"/>
            <p:cNvSpPr/>
            <p:nvPr/>
          </p:nvSpPr>
          <p:spPr>
            <a:xfrm>
              <a:off x="4480560" y="4379976"/>
              <a:ext cx="1097280" cy="347472"/>
            </a:xfrm>
            <a:prstGeom prst="rect">
              <a:avLst/>
            </a:prstGeom>
            <a:solidFill>
              <a:srgbClr val="2C4A6E"/>
            </a:solidFill>
            <a:ln w="12700">
              <a:solidFill>
                <a:srgbClr val="8EC4E8"/>
              </a:solidFill>
              <a:prstDash val="solid"/>
            </a:ln>
          </p:spPr>
          <p:txBody>
            <a:bodyPr/>
            <a:lstStyle/>
            <a:p>
              <a:endParaRPr lang="en-MX"/>
            </a:p>
          </p:txBody>
        </p:sp>
        <p:sp>
          <p:nvSpPr>
            <p:cNvPr id="159" name="Text 157"/>
            <p:cNvSpPr/>
            <p:nvPr/>
          </p:nvSpPr>
          <p:spPr>
            <a:xfrm>
              <a:off x="4480560" y="4407408"/>
              <a:ext cx="10972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C9A84C"/>
                  </a:solidFill>
                </a:rPr>
                <a:t>-308.17</a:t>
              </a:r>
              <a:endParaRPr lang="en-US" sz="900" dirty="0"/>
            </a:p>
          </p:txBody>
        </p:sp>
        <p:sp>
          <p:nvSpPr>
            <p:cNvPr id="160" name="Shape 158"/>
            <p:cNvSpPr/>
            <p:nvPr/>
          </p:nvSpPr>
          <p:spPr>
            <a:xfrm>
              <a:off x="5577840" y="4379976"/>
              <a:ext cx="914400" cy="347472"/>
            </a:xfrm>
            <a:prstGeom prst="rect">
              <a:avLst/>
            </a:prstGeom>
            <a:solidFill>
              <a:srgbClr val="2C4A6E"/>
            </a:solidFill>
            <a:ln w="12700">
              <a:solidFill>
                <a:srgbClr val="8EC4E8"/>
              </a:solidFill>
              <a:prstDash val="solid"/>
            </a:ln>
          </p:spPr>
          <p:txBody>
            <a:bodyPr/>
            <a:lstStyle/>
            <a:p>
              <a:endParaRPr lang="en-MX"/>
            </a:p>
          </p:txBody>
        </p:sp>
        <p:sp>
          <p:nvSpPr>
            <p:cNvPr id="161" name="Text 159"/>
            <p:cNvSpPr/>
            <p:nvPr/>
          </p:nvSpPr>
          <p:spPr>
            <a:xfrm>
              <a:off x="5577840" y="4407408"/>
              <a:ext cx="9144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C9A84C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162" name="Shape 160"/>
            <p:cNvSpPr/>
            <p:nvPr/>
          </p:nvSpPr>
          <p:spPr>
            <a:xfrm>
              <a:off x="6492240" y="4379976"/>
              <a:ext cx="868680" cy="347472"/>
            </a:xfrm>
            <a:prstGeom prst="rect">
              <a:avLst/>
            </a:prstGeom>
            <a:solidFill>
              <a:srgbClr val="2C4A6E"/>
            </a:solidFill>
            <a:ln w="12700">
              <a:solidFill>
                <a:srgbClr val="8EC4E8"/>
              </a:solidFill>
              <a:prstDash val="solid"/>
            </a:ln>
          </p:spPr>
          <p:txBody>
            <a:bodyPr/>
            <a:lstStyle/>
            <a:p>
              <a:endParaRPr lang="en-MX"/>
            </a:p>
          </p:txBody>
        </p:sp>
        <p:sp>
          <p:nvSpPr>
            <p:cNvPr id="163" name="Text 161"/>
            <p:cNvSpPr/>
            <p:nvPr/>
          </p:nvSpPr>
          <p:spPr>
            <a:xfrm>
              <a:off x="6492240" y="4407408"/>
              <a:ext cx="8686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C9A84C"/>
                  </a:solidFill>
                </a:rPr>
                <a:t>~</a:t>
              </a:r>
              <a:endParaRPr lang="en-US" sz="900" dirty="0"/>
            </a:p>
          </p:txBody>
        </p:sp>
        <p:sp>
          <p:nvSpPr>
            <p:cNvPr id="164" name="Shape 162"/>
            <p:cNvSpPr/>
            <p:nvPr/>
          </p:nvSpPr>
          <p:spPr>
            <a:xfrm>
              <a:off x="274320" y="4764024"/>
              <a:ext cx="1005840" cy="347472"/>
            </a:xfrm>
            <a:prstGeom prst="rect">
              <a:avLst/>
            </a:prstGeom>
            <a:solidFill>
              <a:srgbClr val="1B2A3B"/>
            </a:solidFill>
            <a:ln w="12700">
              <a:solidFill>
                <a:srgbClr val="1E3A52"/>
              </a:solidFill>
              <a:prstDash val="solid"/>
            </a:ln>
          </p:spPr>
          <p:txBody>
            <a:bodyPr/>
            <a:lstStyle/>
            <a:p>
              <a:endParaRPr lang="en-MX"/>
            </a:p>
          </p:txBody>
        </p:sp>
        <p:sp>
          <p:nvSpPr>
            <p:cNvPr id="165" name="Text 163"/>
            <p:cNvSpPr/>
            <p:nvPr/>
          </p:nvSpPr>
          <p:spPr>
            <a:xfrm>
              <a:off x="274320" y="4791456"/>
              <a:ext cx="100584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F0F4F8"/>
                  </a:solidFill>
                </a:rPr>
                <a:t>Modelo 10</a:t>
              </a:r>
              <a:endParaRPr lang="en-US" sz="900" dirty="0"/>
            </a:p>
          </p:txBody>
        </p:sp>
        <p:sp>
          <p:nvSpPr>
            <p:cNvPr id="166" name="Shape 164"/>
            <p:cNvSpPr/>
            <p:nvPr/>
          </p:nvSpPr>
          <p:spPr>
            <a:xfrm>
              <a:off x="1280160" y="4764024"/>
              <a:ext cx="1280160" cy="347472"/>
            </a:xfrm>
            <a:prstGeom prst="rect">
              <a:avLst/>
            </a:prstGeom>
            <a:solidFill>
              <a:srgbClr val="1B2A3B"/>
            </a:solidFill>
            <a:ln w="12700">
              <a:solidFill>
                <a:srgbClr val="1E3A52"/>
              </a:solidFill>
              <a:prstDash val="solid"/>
            </a:ln>
          </p:spPr>
          <p:txBody>
            <a:bodyPr/>
            <a:lstStyle/>
            <a:p>
              <a:endParaRPr lang="en-MX"/>
            </a:p>
          </p:txBody>
        </p:sp>
        <p:sp>
          <p:nvSpPr>
            <p:cNvPr id="167" name="Text 165"/>
            <p:cNvSpPr/>
            <p:nvPr/>
          </p:nvSpPr>
          <p:spPr>
            <a:xfrm>
              <a:off x="1280160" y="4791456"/>
              <a:ext cx="128016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F0F4F8"/>
                  </a:solidFill>
                </a:rPr>
                <a:t>2018-2025</a:t>
              </a:r>
              <a:endParaRPr lang="en-US" sz="900" dirty="0"/>
            </a:p>
          </p:txBody>
        </p:sp>
        <p:sp>
          <p:nvSpPr>
            <p:cNvPr id="170" name="Shape 168"/>
            <p:cNvSpPr/>
            <p:nvPr/>
          </p:nvSpPr>
          <p:spPr>
            <a:xfrm>
              <a:off x="2560320" y="4764024"/>
              <a:ext cx="914400" cy="347472"/>
            </a:xfrm>
            <a:prstGeom prst="rect">
              <a:avLst/>
            </a:prstGeom>
            <a:solidFill>
              <a:srgbClr val="1B2A3B"/>
            </a:solidFill>
            <a:ln w="12700">
              <a:solidFill>
                <a:srgbClr val="1E3A52"/>
              </a:solidFill>
              <a:prstDash val="solid"/>
            </a:ln>
          </p:spPr>
          <p:txBody>
            <a:bodyPr/>
            <a:lstStyle/>
            <a:p>
              <a:endParaRPr lang="en-MX"/>
            </a:p>
          </p:txBody>
        </p:sp>
        <p:sp>
          <p:nvSpPr>
            <p:cNvPr id="171" name="Text 169"/>
            <p:cNvSpPr/>
            <p:nvPr/>
          </p:nvSpPr>
          <p:spPr>
            <a:xfrm>
              <a:off x="2560320" y="4791456"/>
              <a:ext cx="9144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F0F4F8"/>
                  </a:solidFill>
                </a:rPr>
                <a:t>13</a:t>
              </a:r>
              <a:endParaRPr lang="en-US" sz="900" dirty="0"/>
            </a:p>
          </p:txBody>
        </p:sp>
        <p:sp>
          <p:nvSpPr>
            <p:cNvPr id="172" name="Shape 170"/>
            <p:cNvSpPr/>
            <p:nvPr/>
          </p:nvSpPr>
          <p:spPr>
            <a:xfrm>
              <a:off x="3474720" y="4764024"/>
              <a:ext cx="1005840" cy="347472"/>
            </a:xfrm>
            <a:prstGeom prst="rect">
              <a:avLst/>
            </a:prstGeom>
            <a:solidFill>
              <a:srgbClr val="1B2A3B"/>
            </a:solidFill>
            <a:ln w="12700">
              <a:solidFill>
                <a:srgbClr val="1E3A52"/>
              </a:solidFill>
              <a:prstDash val="solid"/>
            </a:ln>
          </p:spPr>
          <p:txBody>
            <a:bodyPr/>
            <a:lstStyle/>
            <a:p>
              <a:endParaRPr lang="en-MX"/>
            </a:p>
          </p:txBody>
        </p:sp>
        <p:sp>
          <p:nvSpPr>
            <p:cNvPr id="173" name="Text 171"/>
            <p:cNvSpPr/>
            <p:nvPr/>
          </p:nvSpPr>
          <p:spPr>
            <a:xfrm>
              <a:off x="3474720" y="4791456"/>
              <a:ext cx="100584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F0F4F8"/>
                  </a:solidFill>
                </a:rPr>
                <a:t>88.6%</a:t>
              </a:r>
              <a:endParaRPr lang="en-US" sz="900" dirty="0"/>
            </a:p>
          </p:txBody>
        </p:sp>
        <p:sp>
          <p:nvSpPr>
            <p:cNvPr id="174" name="Shape 172"/>
            <p:cNvSpPr/>
            <p:nvPr/>
          </p:nvSpPr>
          <p:spPr>
            <a:xfrm>
              <a:off x="4480560" y="4764024"/>
              <a:ext cx="1097280" cy="347472"/>
            </a:xfrm>
            <a:prstGeom prst="rect">
              <a:avLst/>
            </a:prstGeom>
            <a:solidFill>
              <a:srgbClr val="1B2A3B"/>
            </a:solidFill>
            <a:ln w="12700">
              <a:solidFill>
                <a:srgbClr val="1E3A52"/>
              </a:solidFill>
              <a:prstDash val="solid"/>
            </a:ln>
          </p:spPr>
          <p:txBody>
            <a:bodyPr/>
            <a:lstStyle/>
            <a:p>
              <a:endParaRPr lang="en-MX"/>
            </a:p>
          </p:txBody>
        </p:sp>
        <p:sp>
          <p:nvSpPr>
            <p:cNvPr id="175" name="Text 173"/>
            <p:cNvSpPr/>
            <p:nvPr/>
          </p:nvSpPr>
          <p:spPr>
            <a:xfrm>
              <a:off x="4480560" y="4791456"/>
              <a:ext cx="10972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F0F4F8"/>
                  </a:solidFill>
                </a:rPr>
                <a:t>-195.33</a:t>
              </a:r>
              <a:endParaRPr lang="en-US" sz="900" dirty="0"/>
            </a:p>
          </p:txBody>
        </p:sp>
        <p:sp>
          <p:nvSpPr>
            <p:cNvPr id="176" name="Shape 174"/>
            <p:cNvSpPr/>
            <p:nvPr/>
          </p:nvSpPr>
          <p:spPr>
            <a:xfrm>
              <a:off x="5577840" y="4764024"/>
              <a:ext cx="914400" cy="347472"/>
            </a:xfrm>
            <a:prstGeom prst="rect">
              <a:avLst/>
            </a:prstGeom>
            <a:solidFill>
              <a:srgbClr val="1B2A3B"/>
            </a:solidFill>
            <a:ln w="12700">
              <a:solidFill>
                <a:srgbClr val="1E3A52"/>
              </a:solidFill>
              <a:prstDash val="solid"/>
            </a:ln>
          </p:spPr>
          <p:txBody>
            <a:bodyPr/>
            <a:lstStyle/>
            <a:p>
              <a:endParaRPr lang="en-MX"/>
            </a:p>
          </p:txBody>
        </p:sp>
        <p:sp>
          <p:nvSpPr>
            <p:cNvPr id="177" name="Text 175"/>
            <p:cNvSpPr/>
            <p:nvPr/>
          </p:nvSpPr>
          <p:spPr>
            <a:xfrm>
              <a:off x="5577840" y="4791456"/>
              <a:ext cx="9144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8EC4E8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178" name="Shape 176"/>
            <p:cNvSpPr/>
            <p:nvPr/>
          </p:nvSpPr>
          <p:spPr>
            <a:xfrm>
              <a:off x="6492240" y="4764024"/>
              <a:ext cx="868680" cy="347472"/>
            </a:xfrm>
            <a:prstGeom prst="rect">
              <a:avLst/>
            </a:prstGeom>
            <a:solidFill>
              <a:srgbClr val="1B2A3B"/>
            </a:solidFill>
            <a:ln w="12700">
              <a:solidFill>
                <a:srgbClr val="1E3A52"/>
              </a:solidFill>
              <a:prstDash val="solid"/>
            </a:ln>
          </p:spPr>
          <p:txBody>
            <a:bodyPr/>
            <a:lstStyle/>
            <a:p>
              <a:endParaRPr lang="en-MX"/>
            </a:p>
          </p:txBody>
        </p:sp>
        <p:sp>
          <p:nvSpPr>
            <p:cNvPr id="179" name="Text 177"/>
            <p:cNvSpPr/>
            <p:nvPr/>
          </p:nvSpPr>
          <p:spPr>
            <a:xfrm>
              <a:off x="6492240" y="4791456"/>
              <a:ext cx="8686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C9A84C"/>
                  </a:solidFill>
                </a:rPr>
                <a:t>~</a:t>
              </a:r>
              <a:endParaRPr lang="en-US" sz="900" dirty="0"/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64A8D8"/>
                </a:solidFill>
              </a:rPr>
              <a:t>Comparación de modelos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65760" y="56692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A96B2"/>
                </a:solidFill>
              </a:rPr>
              <a:t>R² Ajustado — mod9 lidera en ajuste estadístico y cumplimiento de supuestos OLS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896112"/>
            <a:ext cx="8229600" cy="3200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4206240"/>
            <a:ext cx="2011680" cy="731520"/>
          </a:xfrm>
          <a:prstGeom prst="rect">
            <a:avLst/>
          </a:prstGeom>
          <a:solidFill>
            <a:srgbClr val="1E3A52"/>
          </a:solidFill>
          <a:ln w="12700">
            <a:solidFill>
              <a:srgbClr val="8EC4E8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6" name="Text 3"/>
          <p:cNvSpPr/>
          <p:nvPr/>
        </p:nvSpPr>
        <p:spPr>
          <a:xfrm>
            <a:off x="320040" y="42336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8EC4E8"/>
                </a:solidFill>
              </a:rPr>
              <a:t>R² = 82.4%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20040" y="451713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chemeClr val="bg2"/>
                </a:solidFill>
              </a:rPr>
              <a:t>Mayor ajuste entre modelos stepwise</a:t>
            </a:r>
          </a:p>
        </p:txBody>
      </p:sp>
      <p:sp>
        <p:nvSpPr>
          <p:cNvPr id="8" name="Shape 5"/>
          <p:cNvSpPr/>
          <p:nvPr/>
        </p:nvSpPr>
        <p:spPr>
          <a:xfrm>
            <a:off x="2450592" y="4206240"/>
            <a:ext cx="2011680" cy="731520"/>
          </a:xfrm>
          <a:prstGeom prst="rect">
            <a:avLst/>
          </a:prstGeom>
          <a:solidFill>
            <a:srgbClr val="1E3A52"/>
          </a:solidFill>
          <a:ln w="12700">
            <a:solidFill>
              <a:srgbClr val="8EC4E8"/>
            </a:solidFill>
            <a:prstDash val="solid"/>
          </a:ln>
        </p:spPr>
        <p:txBody>
          <a:bodyPr/>
          <a:lstStyle/>
          <a:p>
            <a:endParaRPr lang="en-MX">
              <a:solidFill>
                <a:schemeClr val="bg2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2496312" y="42336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8EC4E8"/>
                </a:solidFill>
              </a:rPr>
              <a:t>AIC = −308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496312" y="451713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chemeClr val="bg2"/>
                </a:solidFill>
              </a:rPr>
              <a:t>Penalización óptima complejidad-ajuste</a:t>
            </a:r>
          </a:p>
        </p:txBody>
      </p:sp>
      <p:sp>
        <p:nvSpPr>
          <p:cNvPr id="11" name="Shape 8"/>
          <p:cNvSpPr/>
          <p:nvPr/>
        </p:nvSpPr>
        <p:spPr>
          <a:xfrm>
            <a:off x="4626864" y="4206240"/>
            <a:ext cx="2011680" cy="731520"/>
          </a:xfrm>
          <a:prstGeom prst="rect">
            <a:avLst/>
          </a:prstGeom>
          <a:solidFill>
            <a:srgbClr val="1E3A52"/>
          </a:solidFill>
          <a:ln w="12700">
            <a:solidFill>
              <a:srgbClr val="8EC4E8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12" name="Text 9"/>
          <p:cNvSpPr/>
          <p:nvPr/>
        </p:nvSpPr>
        <p:spPr>
          <a:xfrm>
            <a:off x="4672584" y="42336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8EC4E8"/>
                </a:solidFill>
              </a:rPr>
              <a:t>Normalidad ✓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672584" y="451713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chemeClr val="bg2"/>
                </a:solidFill>
              </a:rPr>
              <a:t>Único stepwise que pasa Shapiro-Wilk</a:t>
            </a:r>
          </a:p>
        </p:txBody>
      </p:sp>
      <p:sp>
        <p:nvSpPr>
          <p:cNvPr id="14" name="Shape 11"/>
          <p:cNvSpPr/>
          <p:nvPr/>
        </p:nvSpPr>
        <p:spPr>
          <a:xfrm>
            <a:off x="6803136" y="4206240"/>
            <a:ext cx="2011680" cy="731520"/>
          </a:xfrm>
          <a:prstGeom prst="rect">
            <a:avLst/>
          </a:prstGeom>
          <a:solidFill>
            <a:srgbClr val="1E3A52"/>
          </a:solidFill>
          <a:ln w="12700">
            <a:solidFill>
              <a:srgbClr val="8EC4E8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15" name="Text 12"/>
          <p:cNvSpPr/>
          <p:nvPr/>
        </p:nvSpPr>
        <p:spPr>
          <a:xfrm>
            <a:off x="6848856" y="42336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8EC4E8"/>
                </a:solidFill>
              </a:rPr>
              <a:t>Ventana 2013+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848856" y="451713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chemeClr val="bg2"/>
                </a:solidFill>
              </a:rPr>
              <a:t>Coeficientes estables, sin outliers 2008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8EC4E8"/>
                </a:solidFill>
              </a:rPr>
              <a:t>Modelo seleccionado— modelo 9 ★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5303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A96B2"/>
                </a:solidFill>
              </a:rPr>
              <a:t>Stepwise AIC bidireccional  ·  Periodo 2013–2025  ·  13 variables seleccionadas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868680"/>
            <a:ext cx="6400800" cy="2834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858000" y="868680"/>
            <a:ext cx="2011680" cy="411480"/>
          </a:xfrm>
          <a:prstGeom prst="rect">
            <a:avLst/>
          </a:prstGeom>
          <a:solidFill>
            <a:srgbClr val="1E3A52"/>
          </a:solidFill>
          <a:ln w="12700">
            <a:solidFill>
              <a:srgbClr val="8EC4E8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6" name="Text 3"/>
          <p:cNvSpPr/>
          <p:nvPr/>
        </p:nvSpPr>
        <p:spPr>
          <a:xfrm>
            <a:off x="6876288" y="88696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96B2"/>
                </a:solidFill>
              </a:rPr>
              <a:t>R² Ajustado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046720" y="905256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8EC4E8"/>
                </a:solidFill>
              </a:rPr>
              <a:t>82.4%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858000" y="1353312"/>
            <a:ext cx="2011680" cy="411480"/>
          </a:xfrm>
          <a:prstGeom prst="rect">
            <a:avLst/>
          </a:prstGeom>
          <a:solidFill>
            <a:srgbClr val="1E3A52"/>
          </a:solidFill>
          <a:ln w="12700">
            <a:solidFill>
              <a:srgbClr val="64A8D8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9" name="Text 6"/>
          <p:cNvSpPr/>
          <p:nvPr/>
        </p:nvSpPr>
        <p:spPr>
          <a:xfrm>
            <a:off x="6876288" y="137160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96B2"/>
                </a:solidFill>
              </a:rPr>
              <a:t>AIC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046720" y="138988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4A8D8"/>
                </a:solidFill>
              </a:rPr>
              <a:t>−308.17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0" y="1837944"/>
            <a:ext cx="2011680" cy="411480"/>
          </a:xfrm>
          <a:prstGeom prst="rect">
            <a:avLst/>
          </a:prstGeom>
          <a:solidFill>
            <a:srgbClr val="1E3A52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12" name="Text 9"/>
          <p:cNvSpPr/>
          <p:nvPr/>
        </p:nvSpPr>
        <p:spPr>
          <a:xfrm>
            <a:off x="6876288" y="185623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96B2"/>
                </a:solidFill>
              </a:rPr>
              <a:t>Variables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046720" y="18745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9A84C"/>
                </a:solidFill>
              </a:rPr>
              <a:t>13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858000" y="2322576"/>
            <a:ext cx="2011680" cy="411480"/>
          </a:xfrm>
          <a:prstGeom prst="rect">
            <a:avLst/>
          </a:prstGeom>
          <a:solidFill>
            <a:srgbClr val="1E3A52"/>
          </a:solidFill>
          <a:ln w="12700">
            <a:solidFill>
              <a:srgbClr val="8EC4E8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15" name="Text 12"/>
          <p:cNvSpPr/>
          <p:nvPr/>
        </p:nvSpPr>
        <p:spPr>
          <a:xfrm>
            <a:off x="6876288" y="234086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7A96B2"/>
                </a:solidFill>
              </a:rPr>
              <a:t>Periodo</a:t>
            </a:r>
            <a:r>
              <a:rPr lang="en-US" sz="900" dirty="0">
                <a:solidFill>
                  <a:srgbClr val="7A96B2"/>
                </a:solidFill>
              </a:rPr>
              <a:t> 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8046720" y="235915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8EC4E8"/>
                </a:solidFill>
              </a:rPr>
              <a:t>2013-2025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858000" y="2807208"/>
            <a:ext cx="2011680" cy="411480"/>
          </a:xfrm>
          <a:prstGeom prst="rect">
            <a:avLst/>
          </a:prstGeom>
          <a:solidFill>
            <a:srgbClr val="1E3A52"/>
          </a:solidFill>
          <a:ln w="12700">
            <a:solidFill>
              <a:srgbClr val="8EC4E8"/>
            </a:solidFill>
            <a:prstDash val="solid"/>
          </a:ln>
        </p:spPr>
        <p:txBody>
          <a:bodyPr/>
          <a:lstStyle/>
          <a:p>
            <a:endParaRPr lang="en-MX" dirty="0"/>
          </a:p>
        </p:txBody>
      </p:sp>
      <p:sp>
        <p:nvSpPr>
          <p:cNvPr id="18" name="Text 15"/>
          <p:cNvSpPr/>
          <p:nvPr/>
        </p:nvSpPr>
        <p:spPr>
          <a:xfrm>
            <a:off x="6876288" y="282549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96B2"/>
                </a:solidFill>
              </a:rPr>
              <a:t>Shapiro-Wilk p value 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046720" y="2843784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8EC4E8"/>
                </a:solidFill>
              </a:rPr>
              <a:t>0.751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858000" y="3291840"/>
            <a:ext cx="2011680" cy="411480"/>
          </a:xfrm>
          <a:prstGeom prst="rect">
            <a:avLst/>
          </a:prstGeom>
          <a:solidFill>
            <a:srgbClr val="1E3A52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MX" dirty="0"/>
          </a:p>
        </p:txBody>
      </p:sp>
      <p:sp>
        <p:nvSpPr>
          <p:cNvPr id="21" name="Text 18"/>
          <p:cNvSpPr/>
          <p:nvPr/>
        </p:nvSpPr>
        <p:spPr>
          <a:xfrm>
            <a:off x="6876288" y="331012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96B2"/>
                </a:solidFill>
              </a:rPr>
              <a:t>Breusch Pagan p value 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8046720" y="3328416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9A84C"/>
                </a:solidFill>
              </a:rPr>
              <a:t>0.006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274320" y="3840480"/>
            <a:ext cx="8595360" cy="457200"/>
          </a:xfrm>
          <a:prstGeom prst="rect">
            <a:avLst/>
          </a:prstGeom>
          <a:solidFill>
            <a:srgbClr val="1E3A52"/>
          </a:solidFill>
          <a:ln w="12700">
            <a:solidFill>
              <a:srgbClr val="7A96B2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24" name="Text 21"/>
          <p:cNvSpPr/>
          <p:nvPr/>
        </p:nvSpPr>
        <p:spPr>
          <a:xfrm>
            <a:off x="365760" y="388620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0F4F8"/>
                </a:solidFill>
              </a:rPr>
              <a:t>El Modelo 9 </a:t>
            </a:r>
            <a:r>
              <a:rPr lang="en-US" sz="1000" dirty="0" err="1">
                <a:solidFill>
                  <a:srgbClr val="F0F4F8"/>
                </a:solidFill>
              </a:rPr>
              <a:t>captura</a:t>
            </a:r>
            <a:r>
              <a:rPr lang="en-US" sz="1000" dirty="0">
                <a:solidFill>
                  <a:srgbClr val="F0F4F8"/>
                </a:solidFill>
              </a:rPr>
              <a:t> fielmente los ciclos de morosidad, incluyendo el pico COVID-2020 y la recuperación 2021-2025.</a:t>
            </a:r>
            <a:endParaRPr lang="en-US" sz="10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64A8D8"/>
                </a:solidFill>
              </a:rPr>
              <a:t>Interpretación económica 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65760" y="539496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A96B2"/>
                </a:solidFill>
              </a:rPr>
              <a:t>Coeficientes estandarizados Modelo 9 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486400" y="1294116"/>
            <a:ext cx="3291840" cy="1371600"/>
          </a:xfrm>
          <a:prstGeom prst="rect">
            <a:avLst/>
          </a:prstGeom>
          <a:solidFill>
            <a:srgbClr val="1E3A52"/>
          </a:solidFill>
          <a:ln w="12700">
            <a:solidFill>
              <a:srgbClr val="D65A5A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6" name="Text 3"/>
          <p:cNvSpPr/>
          <p:nvPr/>
        </p:nvSpPr>
        <p:spPr>
          <a:xfrm>
            <a:off x="5532120" y="133983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65A5A"/>
                </a:solidFill>
              </a:rPr>
              <a:t>Incrementan morosidad (+)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532120" y="1678164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65A5A"/>
                </a:solidFill>
              </a:rPr>
              <a:t>CETE 28 días: mayor tasa → crédito más caro → más morosidad</a:t>
            </a:r>
            <a:r>
              <a:rPr lang="en-US" sz="900" dirty="0">
                <a:solidFill>
                  <a:srgbClr val="7A96B2"/>
                </a:solidFill>
              </a:rPr>
              <a:t> </a:t>
            </a:r>
            <a:r>
              <a:rPr lang="en-US" sz="900" b="1" dirty="0">
                <a:solidFill>
                  <a:srgbClr val="D65A5A"/>
                </a:solidFill>
              </a:rPr>
              <a:t>Udibonos 10 años: señal de inflación esperada → mayor impago</a:t>
            </a:r>
            <a:r>
              <a:rPr lang="en-US" sz="900" dirty="0">
                <a:solidFill>
                  <a:srgbClr val="7A96B2"/>
                </a:solidFill>
              </a:rPr>
              <a:t> </a:t>
            </a:r>
            <a:r>
              <a:rPr lang="en-US" sz="900" b="1" dirty="0">
                <a:solidFill>
                  <a:srgbClr val="D65A5A"/>
                </a:solidFill>
              </a:rPr>
              <a:t>INPC: Inflación erosiona el poder adquisitivo de los hogares</a:t>
            </a:r>
            <a:r>
              <a:rPr lang="en-US" sz="900" dirty="0">
                <a:solidFill>
                  <a:srgbClr val="7A96B2"/>
                </a:solidFill>
              </a:rPr>
              <a:t> 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0" y="2802876"/>
            <a:ext cx="3291840" cy="1371600"/>
          </a:xfrm>
          <a:prstGeom prst="rect">
            <a:avLst/>
          </a:prstGeom>
          <a:solidFill>
            <a:srgbClr val="1E3A52"/>
          </a:solidFill>
          <a:ln w="12700">
            <a:solidFill>
              <a:srgbClr val="64A8D8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9" name="Text 6"/>
          <p:cNvSpPr/>
          <p:nvPr/>
        </p:nvSpPr>
        <p:spPr>
          <a:xfrm>
            <a:off x="5532120" y="284859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4A8D8"/>
                </a:solidFill>
              </a:rPr>
              <a:t>Reducen morosidad (−)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532120" y="3186924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A8D8"/>
                </a:solidFill>
              </a:rPr>
              <a:t>Tasa objetivo: política monetaria laxa → crédito accesible</a:t>
            </a:r>
            <a:r>
              <a:rPr lang="en-US" sz="900" dirty="0">
                <a:solidFill>
                  <a:srgbClr val="7A96B2"/>
                </a:solidFill>
              </a:rPr>
              <a:t> </a:t>
            </a:r>
            <a:r>
              <a:rPr lang="en-US" sz="900" b="1" dirty="0">
                <a:solidFill>
                  <a:srgbClr val="64A8D8"/>
                </a:solidFill>
              </a:rPr>
              <a:t>Cartera consumo var.: expansión crediticia ordenada → menor mora</a:t>
            </a:r>
            <a:r>
              <a:rPr lang="en-US" sz="900" dirty="0">
                <a:solidFill>
                  <a:srgbClr val="7A96B2"/>
                </a:solidFill>
              </a:rPr>
              <a:t> </a:t>
            </a:r>
            <a:r>
              <a:rPr lang="en-US" sz="900" b="1" dirty="0">
                <a:solidFill>
                  <a:srgbClr val="64A8D8"/>
                </a:solidFill>
              </a:rPr>
              <a:t>Empleo formal IMSS: más empleo → mayor capacidad de pago</a:t>
            </a:r>
            <a:r>
              <a:rPr lang="en-US" sz="900" dirty="0">
                <a:solidFill>
                  <a:srgbClr val="7A96B2"/>
                </a:solidFill>
              </a:rPr>
              <a:t> 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623560" y="4005072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9A84C"/>
                </a:solidFill>
              </a:rPr>
              <a:t> 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C9A84C"/>
                </a:solidFill>
              </a:rPr>
              <a:t> </a:t>
            </a:r>
            <a:endParaRPr lang="en-US" sz="9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67BB96B-5308-2EFE-6089-549D275FB6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905256"/>
            <a:ext cx="4704347" cy="3847734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64A8D8"/>
                </a:solidFill>
              </a:rPr>
              <a:t>Diagnóstico de residuos – modelo 9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65760" y="56692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A96B2"/>
                </a:solidFill>
              </a:rPr>
              <a:t>Supuesto OLS de </a:t>
            </a:r>
            <a:r>
              <a:rPr lang="en-US" sz="1100" dirty="0" err="1">
                <a:solidFill>
                  <a:srgbClr val="7A96B2"/>
                </a:solidFill>
              </a:rPr>
              <a:t>normalidad</a:t>
            </a:r>
            <a:r>
              <a:rPr lang="en-US" sz="1100" dirty="0">
                <a:solidFill>
                  <a:srgbClr val="7A96B2"/>
                </a:solidFill>
              </a:rPr>
              <a:t>: cumplido. Heterocedasticidad leve: identificada y explicada.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914400"/>
            <a:ext cx="4206240" cy="301752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914400"/>
            <a:ext cx="4206240" cy="30175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274320" y="4114800"/>
            <a:ext cx="2651760" cy="822960"/>
          </a:xfrm>
          <a:prstGeom prst="rect">
            <a:avLst/>
          </a:prstGeom>
          <a:solidFill>
            <a:srgbClr val="1E3A52"/>
          </a:solidFill>
          <a:ln w="12700">
            <a:solidFill>
              <a:srgbClr val="8EC4E8"/>
            </a:solidFill>
            <a:prstDash val="solid"/>
          </a:ln>
        </p:spPr>
        <p:txBody>
          <a:bodyPr/>
          <a:lstStyle/>
          <a:p>
            <a:endParaRPr lang="en-MX">
              <a:solidFill>
                <a:schemeClr val="bg2"/>
              </a:solidFill>
            </a:endParaRPr>
          </a:p>
        </p:txBody>
      </p:sp>
      <p:sp>
        <p:nvSpPr>
          <p:cNvPr id="7" name="Text 3"/>
          <p:cNvSpPr/>
          <p:nvPr/>
        </p:nvSpPr>
        <p:spPr>
          <a:xfrm>
            <a:off x="320040" y="41422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chemeClr val="bg2"/>
                </a:solidFill>
              </a:rPr>
              <a:t>Shapiro-Wilk W</a:t>
            </a:r>
          </a:p>
        </p:txBody>
      </p:sp>
      <p:sp>
        <p:nvSpPr>
          <p:cNvPr id="8" name="Text 4"/>
          <p:cNvSpPr/>
          <p:nvPr/>
        </p:nvSpPr>
        <p:spPr>
          <a:xfrm>
            <a:off x="320040" y="43891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8EC4E8"/>
                </a:solidFill>
              </a:rPr>
              <a:t>0.9938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320040" y="46634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chemeClr val="bg2"/>
                </a:solidFill>
              </a:rPr>
              <a:t>p = 0.751 </a:t>
            </a:r>
          </a:p>
        </p:txBody>
      </p:sp>
      <p:sp>
        <p:nvSpPr>
          <p:cNvPr id="10" name="Shape 6"/>
          <p:cNvSpPr/>
          <p:nvPr/>
        </p:nvSpPr>
        <p:spPr>
          <a:xfrm>
            <a:off x="3172968" y="4114800"/>
            <a:ext cx="2651760" cy="822960"/>
          </a:xfrm>
          <a:prstGeom prst="rect">
            <a:avLst/>
          </a:prstGeom>
          <a:solidFill>
            <a:srgbClr val="1E3A52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11" name="Text 7"/>
          <p:cNvSpPr/>
          <p:nvPr/>
        </p:nvSpPr>
        <p:spPr>
          <a:xfrm>
            <a:off x="3218688" y="41422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chemeClr val="bg2"/>
                </a:solidFill>
              </a:rPr>
              <a:t>Breusch-Pagan</a:t>
            </a:r>
          </a:p>
        </p:txBody>
      </p:sp>
      <p:sp>
        <p:nvSpPr>
          <p:cNvPr id="12" name="Text 8"/>
          <p:cNvSpPr/>
          <p:nvPr/>
        </p:nvSpPr>
        <p:spPr>
          <a:xfrm>
            <a:off x="3218688" y="43891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9A84C"/>
                </a:solidFill>
              </a:rPr>
              <a:t>p = 0.006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218688" y="46634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chemeClr val="bg2"/>
                </a:solidFill>
              </a:rPr>
              <a:t>Heteroced. leve — structural breaks</a:t>
            </a:r>
          </a:p>
        </p:txBody>
      </p:sp>
      <p:sp>
        <p:nvSpPr>
          <p:cNvPr id="14" name="Shape 10"/>
          <p:cNvSpPr/>
          <p:nvPr/>
        </p:nvSpPr>
        <p:spPr>
          <a:xfrm>
            <a:off x="6071616" y="4114800"/>
            <a:ext cx="2651760" cy="822960"/>
          </a:xfrm>
          <a:prstGeom prst="rect">
            <a:avLst/>
          </a:prstGeom>
          <a:solidFill>
            <a:srgbClr val="1E3A52"/>
          </a:solidFill>
          <a:ln w="12700">
            <a:solidFill>
              <a:srgbClr val="64A8D8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15" name="Text 11"/>
          <p:cNvSpPr/>
          <p:nvPr/>
        </p:nvSpPr>
        <p:spPr>
          <a:xfrm>
            <a:off x="6117336" y="41422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chemeClr val="bg2"/>
                </a:solidFill>
              </a:rPr>
              <a:t>Durbin-Watson</a:t>
            </a:r>
          </a:p>
        </p:txBody>
      </p:sp>
      <p:sp>
        <p:nvSpPr>
          <p:cNvPr id="16" name="Text 12"/>
          <p:cNvSpPr/>
          <p:nvPr/>
        </p:nvSpPr>
        <p:spPr>
          <a:xfrm>
            <a:off x="6117336" y="43891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4A8D8"/>
                </a:solidFill>
              </a:rPr>
              <a:t>1.4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117336" y="46634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chemeClr val="bg2"/>
                </a:solidFill>
              </a:rPr>
              <a:t>Autocorr. leve 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64A8D8"/>
                </a:solidFill>
              </a:rPr>
              <a:t>Conclusiones</a:t>
            </a:r>
            <a:endParaRPr lang="en-US" sz="2200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54D02AA-75FF-E57D-992A-EAB33C039198}"/>
              </a:ext>
            </a:extLst>
          </p:cNvPr>
          <p:cNvGrpSpPr/>
          <p:nvPr/>
        </p:nvGrpSpPr>
        <p:grpSpPr>
          <a:xfrm>
            <a:off x="635267" y="934052"/>
            <a:ext cx="7682564" cy="4026568"/>
            <a:chOff x="274320" y="1005840"/>
            <a:chExt cx="8595360" cy="4480560"/>
          </a:xfrm>
        </p:grpSpPr>
        <p:sp>
          <p:nvSpPr>
            <p:cNvPr id="4" name="Shape 2"/>
            <p:cNvSpPr/>
            <p:nvPr/>
          </p:nvSpPr>
          <p:spPr>
            <a:xfrm>
              <a:off x="274320" y="1005840"/>
              <a:ext cx="4114800" cy="1371600"/>
            </a:xfrm>
            <a:prstGeom prst="rect">
              <a:avLst/>
            </a:prstGeom>
            <a:solidFill>
              <a:srgbClr val="1E3A52"/>
            </a:solidFill>
            <a:ln w="12700">
              <a:solidFill>
                <a:srgbClr val="8EC4E8"/>
              </a:solidFill>
              <a:prstDash val="solid"/>
            </a:ln>
          </p:spPr>
          <p:txBody>
            <a:bodyPr/>
            <a:lstStyle/>
            <a:p>
              <a:endParaRPr lang="en-MX"/>
            </a:p>
          </p:txBody>
        </p:sp>
        <p:sp>
          <p:nvSpPr>
            <p:cNvPr id="8" name="Shape 6"/>
            <p:cNvSpPr/>
            <p:nvPr/>
          </p:nvSpPr>
          <p:spPr>
            <a:xfrm>
              <a:off x="274320" y="2560320"/>
              <a:ext cx="4114800" cy="1371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endParaRPr lang="en-MX" sz="950">
                <a:solidFill>
                  <a:schemeClr val="bg2"/>
                </a:solidFill>
              </a:endParaRPr>
            </a:p>
          </p:txBody>
        </p:sp>
        <p:sp>
          <p:nvSpPr>
            <p:cNvPr id="12" name="Shape 10"/>
            <p:cNvSpPr/>
            <p:nvPr/>
          </p:nvSpPr>
          <p:spPr>
            <a:xfrm>
              <a:off x="274320" y="4114800"/>
              <a:ext cx="4114800" cy="1371600"/>
            </a:xfrm>
            <a:prstGeom prst="rect">
              <a:avLst/>
            </a:prstGeom>
            <a:solidFill>
              <a:srgbClr val="1E3A52"/>
            </a:solidFill>
            <a:ln w="12700">
              <a:solidFill>
                <a:srgbClr val="C9A84C"/>
              </a:solidFill>
              <a:prstDash val="solid"/>
            </a:ln>
          </p:spPr>
          <p:txBody>
            <a:bodyPr/>
            <a:lstStyle/>
            <a:p>
              <a:endParaRPr lang="en-MX"/>
            </a:p>
          </p:txBody>
        </p:sp>
        <p:sp>
          <p:nvSpPr>
            <p:cNvPr id="16" name="Shape 14"/>
            <p:cNvSpPr/>
            <p:nvPr/>
          </p:nvSpPr>
          <p:spPr>
            <a:xfrm>
              <a:off x="4754880" y="1005840"/>
              <a:ext cx="4114800" cy="1371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endParaRPr lang="en-MX" sz="950" dirty="0">
                <a:solidFill>
                  <a:schemeClr val="bg2"/>
                </a:solidFill>
              </a:endParaRPr>
            </a:p>
          </p:txBody>
        </p:sp>
        <p:sp>
          <p:nvSpPr>
            <p:cNvPr id="20" name="Shape 18"/>
            <p:cNvSpPr/>
            <p:nvPr/>
          </p:nvSpPr>
          <p:spPr>
            <a:xfrm>
              <a:off x="4754880" y="2560320"/>
              <a:ext cx="4114800" cy="1371600"/>
            </a:xfrm>
            <a:prstGeom prst="rect">
              <a:avLst/>
            </a:prstGeom>
            <a:solidFill>
              <a:srgbClr val="1E3A52"/>
            </a:solidFill>
            <a:ln w="12700">
              <a:solidFill>
                <a:srgbClr val="8EC4E8"/>
              </a:solidFill>
              <a:prstDash val="solid"/>
            </a:ln>
          </p:spPr>
          <p:txBody>
            <a:bodyPr/>
            <a:lstStyle/>
            <a:p>
              <a:endParaRPr lang="en-MX"/>
            </a:p>
          </p:txBody>
        </p:sp>
        <p:sp>
          <p:nvSpPr>
            <p:cNvPr id="5" name="Shape 3"/>
            <p:cNvSpPr/>
            <p:nvPr/>
          </p:nvSpPr>
          <p:spPr>
            <a:xfrm>
              <a:off x="274320" y="1005840"/>
              <a:ext cx="54864" cy="1371600"/>
            </a:xfrm>
            <a:prstGeom prst="rect">
              <a:avLst/>
            </a:prstGeom>
            <a:solidFill>
              <a:srgbClr val="8EC4E8"/>
            </a:solidFill>
            <a:ln w="12700">
              <a:solidFill>
                <a:srgbClr val="8EC4E8"/>
              </a:solidFill>
              <a:prstDash val="solid"/>
            </a:ln>
          </p:spPr>
          <p:txBody>
            <a:bodyPr/>
            <a:lstStyle/>
            <a:p>
              <a:endParaRPr lang="en-MX"/>
            </a:p>
          </p:txBody>
        </p:sp>
        <p:sp>
          <p:nvSpPr>
            <p:cNvPr id="6" name="Text 4"/>
            <p:cNvSpPr/>
            <p:nvPr/>
          </p:nvSpPr>
          <p:spPr>
            <a:xfrm>
              <a:off x="411480" y="1097280"/>
              <a:ext cx="384048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b="1" dirty="0">
                  <a:solidFill>
                    <a:srgbClr val="F0F4F8"/>
                  </a:solidFill>
                </a:rPr>
                <a:t>01  Modelo robusto seleccionado</a:t>
              </a:r>
              <a:endParaRPr lang="en-US" sz="11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411480" y="1508760"/>
              <a:ext cx="3840480" cy="777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50" dirty="0">
                  <a:solidFill>
                    <a:schemeClr val="bg2"/>
                  </a:solidFill>
                </a:rPr>
                <a:t>mod9 (stepwise, 2013–2025) alcanza R²=82.4% y AIC=−308. 13 variables explican la dinámica del IMORA TC.</a:t>
              </a:r>
            </a:p>
          </p:txBody>
        </p:sp>
        <p:sp>
          <p:nvSpPr>
            <p:cNvPr id="9" name="Shape 7"/>
            <p:cNvSpPr/>
            <p:nvPr/>
          </p:nvSpPr>
          <p:spPr>
            <a:xfrm>
              <a:off x="274320" y="2560320"/>
              <a:ext cx="54864" cy="1371600"/>
            </a:xfrm>
            <a:prstGeom prst="rect">
              <a:avLst/>
            </a:prstGeom>
            <a:solidFill>
              <a:srgbClr val="64A8D8"/>
            </a:solidFill>
            <a:ln w="12700">
              <a:solidFill>
                <a:srgbClr val="64A8D8"/>
              </a:solidFill>
              <a:prstDash val="solid"/>
            </a:ln>
          </p:spPr>
          <p:txBody>
            <a:bodyPr/>
            <a:lstStyle/>
            <a:p>
              <a:endParaRPr lang="en-MX"/>
            </a:p>
          </p:txBody>
        </p:sp>
        <p:sp>
          <p:nvSpPr>
            <p:cNvPr id="10" name="Text 8"/>
            <p:cNvSpPr/>
            <p:nvPr/>
          </p:nvSpPr>
          <p:spPr>
            <a:xfrm>
              <a:off x="411480" y="2651760"/>
              <a:ext cx="384048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b="1" dirty="0">
                  <a:solidFill>
                    <a:srgbClr val="F0F4F8"/>
                  </a:solidFill>
                </a:rPr>
                <a:t>02  Las 27 variables importan</a:t>
              </a:r>
              <a:endParaRPr lang="en-US" sz="11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411480" y="3063240"/>
              <a:ext cx="3840480" cy="777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950" dirty="0">
                  <a:solidFill>
                    <a:schemeClr val="bg2"/>
                  </a:solidFill>
                </a:rPr>
                <a:t>Usar solo un subconjunto parcial sesga los coeficientes. La corrección crítica fue incluir el conjunto completo.</a:t>
              </a:r>
            </a:p>
          </p:txBody>
        </p:sp>
        <p:sp>
          <p:nvSpPr>
            <p:cNvPr id="13" name="Shape 11"/>
            <p:cNvSpPr/>
            <p:nvPr/>
          </p:nvSpPr>
          <p:spPr>
            <a:xfrm>
              <a:off x="274320" y="4114800"/>
              <a:ext cx="54864" cy="1371600"/>
            </a:xfrm>
            <a:prstGeom prst="rect">
              <a:avLst/>
            </a:prstGeom>
            <a:solidFill>
              <a:srgbClr val="C9A84C"/>
            </a:solidFill>
            <a:ln w="12700">
              <a:solidFill>
                <a:srgbClr val="C9A84C"/>
              </a:solidFill>
              <a:prstDash val="solid"/>
            </a:ln>
          </p:spPr>
          <p:txBody>
            <a:bodyPr/>
            <a:lstStyle/>
            <a:p>
              <a:endParaRPr lang="en-MX"/>
            </a:p>
          </p:txBody>
        </p:sp>
        <p:sp>
          <p:nvSpPr>
            <p:cNvPr id="14" name="Text 12"/>
            <p:cNvSpPr/>
            <p:nvPr/>
          </p:nvSpPr>
          <p:spPr>
            <a:xfrm>
              <a:off x="411480" y="4206240"/>
              <a:ext cx="384048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b="1" dirty="0">
                  <a:solidFill>
                    <a:srgbClr val="F0F4F8"/>
                  </a:solidFill>
                </a:rPr>
                <a:t>03  Ventana temporal clave</a:t>
              </a:r>
              <a:endParaRPr lang="en-US" sz="11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411480" y="4617720"/>
              <a:ext cx="3840480" cy="777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950" dirty="0">
                  <a:solidFill>
                    <a:schemeClr val="bg2"/>
                  </a:solidFill>
                </a:rPr>
                <a:t>2013–2025 excluye el efecto distorsionador de la crisis 2008-09 y produce estimadores más estables.</a:t>
              </a:r>
            </a:p>
          </p:txBody>
        </p:sp>
        <p:sp>
          <p:nvSpPr>
            <p:cNvPr id="17" name="Shape 15"/>
            <p:cNvSpPr/>
            <p:nvPr/>
          </p:nvSpPr>
          <p:spPr>
            <a:xfrm>
              <a:off x="4754880" y="1005840"/>
              <a:ext cx="54864" cy="1371600"/>
            </a:xfrm>
            <a:prstGeom prst="rect">
              <a:avLst/>
            </a:prstGeom>
            <a:solidFill>
              <a:srgbClr val="8EC4E8"/>
            </a:solidFill>
            <a:ln w="12700">
              <a:solidFill>
                <a:srgbClr val="8EC4E8"/>
              </a:solidFill>
              <a:prstDash val="solid"/>
            </a:ln>
          </p:spPr>
          <p:txBody>
            <a:bodyPr/>
            <a:lstStyle/>
            <a:p>
              <a:endParaRPr lang="en-MX"/>
            </a:p>
          </p:txBody>
        </p:sp>
        <p:sp>
          <p:nvSpPr>
            <p:cNvPr id="18" name="Text 16"/>
            <p:cNvSpPr/>
            <p:nvPr/>
          </p:nvSpPr>
          <p:spPr>
            <a:xfrm>
              <a:off x="4892040" y="1097280"/>
              <a:ext cx="384048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b="1" dirty="0">
                  <a:solidFill>
                    <a:srgbClr val="F0F4F8"/>
                  </a:solidFill>
                </a:rPr>
                <a:t>04  Aplicabilidad bancaria real</a:t>
              </a:r>
              <a:endParaRPr lang="en-US" sz="11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4892040" y="1508760"/>
              <a:ext cx="3840480" cy="777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950" dirty="0">
                  <a:solidFill>
                    <a:schemeClr val="bg2"/>
                  </a:solidFill>
                </a:rPr>
                <a:t>El modelo anticipa alzas en morosidad antes de que ocurran, apoyando decisiones de provisión de capital.</a:t>
              </a:r>
            </a:p>
          </p:txBody>
        </p:sp>
        <p:sp>
          <p:nvSpPr>
            <p:cNvPr id="21" name="Shape 19"/>
            <p:cNvSpPr/>
            <p:nvPr/>
          </p:nvSpPr>
          <p:spPr>
            <a:xfrm>
              <a:off x="4754880" y="2560320"/>
              <a:ext cx="54864" cy="1371600"/>
            </a:xfrm>
            <a:prstGeom prst="rect">
              <a:avLst/>
            </a:prstGeom>
            <a:solidFill>
              <a:srgbClr val="8EC4E8"/>
            </a:solidFill>
            <a:ln w="12700">
              <a:solidFill>
                <a:srgbClr val="8EC4E8"/>
              </a:solidFill>
              <a:prstDash val="solid"/>
            </a:ln>
          </p:spPr>
          <p:txBody>
            <a:bodyPr/>
            <a:lstStyle/>
            <a:p>
              <a:endParaRPr lang="en-MX"/>
            </a:p>
          </p:txBody>
        </p:sp>
        <p:sp>
          <p:nvSpPr>
            <p:cNvPr id="22" name="Text 20"/>
            <p:cNvSpPr/>
            <p:nvPr/>
          </p:nvSpPr>
          <p:spPr>
            <a:xfrm>
              <a:off x="4892040" y="2651760"/>
              <a:ext cx="384048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b="1" dirty="0">
                  <a:solidFill>
                    <a:srgbClr val="F0F4F8"/>
                  </a:solidFill>
                </a:rPr>
                <a:t>05  Diagnóstico de residuos</a:t>
              </a:r>
              <a:endParaRPr lang="en-US" sz="11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4892040" y="3063240"/>
              <a:ext cx="3840480" cy="777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950" dirty="0">
                  <a:solidFill>
                    <a:schemeClr val="bg2"/>
                  </a:solidFill>
                </a:rPr>
                <a:t>Normalidad confirmada. Heterocedasticidad leve por shocks estructurales, no falla del modelo.</a:t>
              </a:r>
            </a:p>
          </p:txBody>
        </p:sp>
        <p:sp>
          <p:nvSpPr>
            <p:cNvPr id="24" name="Shape 22"/>
            <p:cNvSpPr/>
            <p:nvPr/>
          </p:nvSpPr>
          <p:spPr>
            <a:xfrm>
              <a:off x="4754880" y="4114800"/>
              <a:ext cx="4114800" cy="1371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endParaRPr lang="en-MX" sz="950">
                <a:solidFill>
                  <a:schemeClr val="bg2"/>
                </a:solidFill>
              </a:endParaRPr>
            </a:p>
          </p:txBody>
        </p:sp>
        <p:sp>
          <p:nvSpPr>
            <p:cNvPr id="25" name="Shape 23"/>
            <p:cNvSpPr/>
            <p:nvPr/>
          </p:nvSpPr>
          <p:spPr>
            <a:xfrm>
              <a:off x="4754880" y="4114800"/>
              <a:ext cx="54864" cy="1371600"/>
            </a:xfrm>
            <a:prstGeom prst="rect">
              <a:avLst/>
            </a:prstGeom>
            <a:solidFill>
              <a:srgbClr val="8EC4E8"/>
            </a:solidFill>
            <a:ln w="12700">
              <a:solidFill>
                <a:srgbClr val="8EC4E8"/>
              </a:solidFill>
              <a:prstDash val="solid"/>
            </a:ln>
          </p:spPr>
          <p:txBody>
            <a:bodyPr/>
            <a:lstStyle/>
            <a:p>
              <a:endParaRPr lang="en-MX"/>
            </a:p>
          </p:txBody>
        </p:sp>
        <p:sp>
          <p:nvSpPr>
            <p:cNvPr id="26" name="Text 24"/>
            <p:cNvSpPr/>
            <p:nvPr/>
          </p:nvSpPr>
          <p:spPr>
            <a:xfrm>
              <a:off x="4892040" y="4206240"/>
              <a:ext cx="384048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b="1" dirty="0">
                  <a:solidFill>
                    <a:srgbClr val="F0F4F8"/>
                  </a:solidFill>
                </a:rPr>
                <a:t>06  Arquitectura escalable</a:t>
              </a:r>
              <a:endParaRPr lang="en-US" sz="110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4892040" y="4617720"/>
              <a:ext cx="3840480" cy="777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950" dirty="0">
                  <a:solidFill>
                    <a:schemeClr val="bg2"/>
                  </a:solidFill>
                </a:rPr>
                <a:t>El pipeline en R permite actualizar la serie e incorporar nuevas variables sin reestructurar el análisis.</a:t>
              </a:r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64A8D8"/>
          </a:solidFill>
          <a:ln w="12700">
            <a:solidFill>
              <a:srgbClr val="64A8D8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5" name="Text 3"/>
          <p:cNvSpPr/>
          <p:nvPr/>
        </p:nvSpPr>
        <p:spPr>
          <a:xfrm>
            <a:off x="457200" y="4733223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A96B2"/>
                </a:solidFill>
              </a:rPr>
              <a:t>IBERO Ciudad de México  ·  Ciencia de Datos  ·  Abril 2026</a:t>
            </a:r>
            <a:endParaRPr lang="en-US" sz="1100" dirty="0"/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E0CE3758-DAAE-EBCC-5BA7-AEA731AA5A77}"/>
              </a:ext>
            </a:extLst>
          </p:cNvPr>
          <p:cNvSpPr/>
          <p:nvPr/>
        </p:nvSpPr>
        <p:spPr>
          <a:xfrm>
            <a:off x="625643" y="1331896"/>
            <a:ext cx="8138160" cy="32008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MX" sz="1100" dirty="0">
                <a:solidFill>
                  <a:schemeClr val="bg2"/>
                </a:solidFill>
              </a:rPr>
              <a:t>Banco de México (2026) Sistema de Información Económica (BIE). [En línea] Disponible en: </a:t>
            </a:r>
            <a:r>
              <a:rPr lang="en-MX" sz="1100" dirty="0">
                <a:solidFill>
                  <a:schemeClr val="bg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https://www.banxico.org.mx/SieInternet/</a:t>
            </a:r>
            <a:r>
              <a:rPr lang="en-MX" sz="1100" dirty="0">
                <a:solidFill>
                  <a:schemeClr val="bg2"/>
                </a:solidFill>
              </a:rPr>
              <a:t> [Consultado el 30 de marzo del 2026].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MX" sz="1100" dirty="0">
                <a:solidFill>
                  <a:schemeClr val="bg2"/>
                </a:solidFill>
              </a:rPr>
              <a:t>Comisión Nacional Bancaria y de Valores (2026) Estadísticas de banca múltiple: Indicadores de cartera. [En línea] Disponible en: </a:t>
            </a:r>
            <a:r>
              <a:rPr lang="en-MX" sz="1100" dirty="0">
                <a:solidFill>
                  <a:schemeClr val="bg2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https://www.cnbv.gob.mx/Paginas/Estadisticas.aspx</a:t>
            </a:r>
            <a:r>
              <a:rPr lang="en-MX" sz="1100" dirty="0">
                <a:solidFill>
                  <a:schemeClr val="bg2"/>
                </a:solidFill>
              </a:rPr>
              <a:t> [Consultado el 30 de marzo de 2026].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MX" sz="1100" dirty="0">
                <a:solidFill>
                  <a:schemeClr val="bg2"/>
                </a:solidFill>
              </a:rPr>
              <a:t>Estrella, A. y Hardouvelis, G. A. (1991) 'The term structure as a predictor of real economic activity', The Journal of Finance, 46(2), pp. 555–576.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MX" sz="1100" dirty="0">
                <a:solidFill>
                  <a:schemeClr val="bg2"/>
                </a:solidFill>
              </a:rPr>
              <a:t>Herrera, J. y Rodríguez, A. (2021) 'Remesas y estabilidad financiera en México: Un análisis regional', El Trimestre Económico, 88(351), pp. 785–815.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MX" sz="1100" dirty="0">
                <a:solidFill>
                  <a:schemeClr val="bg2"/>
                </a:solidFill>
              </a:rPr>
              <a:t>Instituto Nacional de Estadística y Geografía (2026) Banco de Información Económica. [En línea] Disponible en: </a:t>
            </a:r>
            <a:r>
              <a:rPr lang="en-MX" sz="1100" dirty="0">
                <a:solidFill>
                  <a:schemeClr val="bg2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https://www.inegi.org.mx/sistemas/bie/</a:t>
            </a:r>
            <a:r>
              <a:rPr lang="en-MX" sz="1100" dirty="0">
                <a:solidFill>
                  <a:schemeClr val="bg2"/>
                </a:solidFill>
              </a:rPr>
              <a:t> [Consultado el 30 de marzo de 2026].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MX" sz="1100" dirty="0">
                <a:solidFill>
                  <a:schemeClr val="bg2"/>
                </a:solidFill>
              </a:rPr>
              <a:t>Jaramillo, M. y Tejada, A. (2019) 'Determinantes macroeconómicos de la morosidad en la cartera de consumo en América Latina', Revista de Análisis Económico, 34(2), pp. 45–72.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MX" sz="1100" dirty="0">
                <a:solidFill>
                  <a:schemeClr val="bg2"/>
                </a:solidFill>
              </a:rPr>
              <a:t>Lessmann, S., Baesens, B., Seow, H. V. y Thomas, L. C. (2015) 'Benchmarking state-of-the-art classification algorithms for credit scoring: An update of research', European Journal of Operational Research, 247(1), pp. 124–136.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MX" sz="1100" dirty="0">
                <a:solidFill>
                  <a:schemeClr val="bg2"/>
                </a:solidFill>
              </a:rPr>
              <a:t>Merton, R. C. (1974) 'On the pricing of corporate debt: The risk structure of interest rates', The Journal of Finance, 29(2), pp. 449–470.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MX" sz="1100" dirty="0">
                <a:solidFill>
                  <a:schemeClr val="bg2"/>
                </a:solidFill>
              </a:rPr>
              <a:t>R Core Team (2026) R: A language and environment for statistical computing [Software]. Viena: R Foundation for Statistical Computing. Disponible en: </a:t>
            </a:r>
            <a:r>
              <a:rPr lang="en-MX" sz="1100" dirty="0">
                <a:solidFill>
                  <a:schemeClr val="bg2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https://www.R-project.org/</a:t>
            </a:r>
            <a:endParaRPr lang="en-MX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MX" altLang="en-MX" sz="1100" dirty="0">
                <a:solidFill>
                  <a:schemeClr val="bg2"/>
                </a:solidFill>
              </a:rPr>
              <a:t>Greene, W.H. (2018). Econometric Analysis. 8th edn. New York: Pearson Education</a:t>
            </a:r>
            <a:endParaRPr lang="en-MX" sz="1100" dirty="0">
              <a:solidFill>
                <a:schemeClr val="bg2"/>
              </a:solidFill>
            </a:endParaRPr>
          </a:p>
          <a:p>
            <a:endParaRPr lang="en-US" sz="1100" dirty="0">
              <a:solidFill>
                <a:schemeClr val="bg2"/>
              </a:solidFill>
            </a:endParaRPr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53E8DB6C-B35C-0D80-F74B-4C52BFA8BF5D}"/>
              </a:ext>
            </a:extLst>
          </p:cNvPr>
          <p:cNvSpPr/>
          <p:nvPr/>
        </p:nvSpPr>
        <p:spPr>
          <a:xfrm>
            <a:off x="731520" y="610723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64A8D8"/>
                </a:solidFill>
              </a:rPr>
              <a:t>REFERENCIAS</a:t>
            </a:r>
            <a:endParaRPr lang="en-US" sz="22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B1A355-648A-2090-27F7-24FB6AE94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D1F5D23-2704-61E1-3690-E831C9792C7F}"/>
              </a:ext>
            </a:extLst>
          </p:cNvPr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64A8D8"/>
          </a:solidFill>
          <a:ln w="12700">
            <a:solidFill>
              <a:srgbClr val="64A8D8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AB6494F-DB33-2FA7-0F58-B184E7A78096}"/>
              </a:ext>
            </a:extLst>
          </p:cNvPr>
          <p:cNvSpPr/>
          <p:nvPr/>
        </p:nvSpPr>
        <p:spPr>
          <a:xfrm>
            <a:off x="228600" y="27432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A96B2"/>
                </a:solidFill>
              </a:rPr>
              <a:t>IBERO Ciudad de México  ·  Ciencia de Datos</a:t>
            </a:r>
            <a:endParaRPr lang="en-US" sz="11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1946200-0528-2DC4-970C-CA94A3C53BCC}"/>
              </a:ext>
            </a:extLst>
          </p:cNvPr>
          <p:cNvSpPr/>
          <p:nvPr/>
        </p:nvSpPr>
        <p:spPr>
          <a:xfrm>
            <a:off x="228600" y="100584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0F4F8"/>
                </a:solidFill>
              </a:rPr>
              <a:t>Modelo Macroeconómico</a:t>
            </a:r>
            <a:endParaRPr lang="en-US" sz="4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0DF239D-1E67-1C0D-F645-212400D0959F}"/>
              </a:ext>
            </a:extLst>
          </p:cNvPr>
          <p:cNvSpPr/>
          <p:nvPr/>
        </p:nvSpPr>
        <p:spPr>
          <a:xfrm>
            <a:off x="228600" y="16916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0F4F8"/>
                </a:solidFill>
              </a:rPr>
              <a:t>para Cuantificar la</a:t>
            </a:r>
            <a:endParaRPr lang="en-US" sz="4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5D81E9E-E409-7732-ED30-6BB1E35EBEFB}"/>
              </a:ext>
            </a:extLst>
          </p:cNvPr>
          <p:cNvSpPr/>
          <p:nvPr/>
        </p:nvSpPr>
        <p:spPr>
          <a:xfrm>
            <a:off x="228600" y="233172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64A8D8"/>
                </a:solidFill>
              </a:rPr>
              <a:t>Probabilidad de Incumplimiento de pago</a:t>
            </a:r>
            <a:endParaRPr lang="en-US" sz="28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C66B47E-0996-235F-371E-0CBE69AD1453}"/>
              </a:ext>
            </a:extLst>
          </p:cNvPr>
          <p:cNvSpPr/>
          <p:nvPr/>
        </p:nvSpPr>
        <p:spPr>
          <a:xfrm>
            <a:off x="228600" y="31546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7A96B2"/>
                </a:solidFill>
              </a:rPr>
              <a:t>Portafolio de Tarjetas de Crédito  |  Banca Múltiple en México  |  2007–2025</a:t>
            </a:r>
            <a:endParaRPr lang="en-US" sz="13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48BC43F3-F5AF-933F-2B81-8A429EA6F443}"/>
              </a:ext>
            </a:extLst>
          </p:cNvPr>
          <p:cNvSpPr/>
          <p:nvPr/>
        </p:nvSpPr>
        <p:spPr>
          <a:xfrm>
            <a:off x="228600" y="3749040"/>
            <a:ext cx="1828800" cy="27432"/>
          </a:xfrm>
          <a:prstGeom prst="rect">
            <a:avLst/>
          </a:prstGeom>
          <a:solidFill>
            <a:srgbClr val="64A8D8"/>
          </a:solidFill>
          <a:ln w="12700">
            <a:solidFill>
              <a:srgbClr val="64A8D8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51B50AD-B41B-3F60-ADED-99FC05274C6C}"/>
              </a:ext>
            </a:extLst>
          </p:cNvPr>
          <p:cNvSpPr/>
          <p:nvPr/>
        </p:nvSpPr>
        <p:spPr>
          <a:xfrm>
            <a:off x="228600" y="3931920"/>
            <a:ext cx="8686800" cy="67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F0F4F8"/>
                </a:solidFill>
              </a:rPr>
              <a:t>Alumno: Diego Vargas Santana </a:t>
            </a:r>
          </a:p>
          <a:p>
            <a:r>
              <a:rPr lang="en-US" sz="1100" dirty="0">
                <a:solidFill>
                  <a:srgbClr val="F0F4F8"/>
                </a:solidFill>
              </a:rPr>
              <a:t>Asesor:  Jorge Luis Reyes García   </a:t>
            </a:r>
          </a:p>
          <a:p>
            <a:r>
              <a:rPr lang="en-US" sz="1100" dirty="0">
                <a:solidFill>
                  <a:srgbClr val="F0F4F8"/>
                </a:solidFill>
              </a:rPr>
              <a:t>Sinodales: Lizbeth Peñaloza Velasco   ·   Díaz Infante Rodrigo Pesquera 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8114588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1B2A3B"/>
      </a:dk1>
      <a:lt1>
        <a:sysClr val="window" lastClr="F0F4F8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1B2A3B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1B2A3B"/>
      </a:dk1>
      <a:lt1>
        <a:sysClr val="window" lastClr="F0F4F8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1B2A3B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1B2A3B"/>
    </a:dk1>
    <a:lt1>
      <a:sysClr val="window" lastClr="F0F4F8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1B2A3B"/>
    </a:dk1>
    <a:lt1>
      <a:sysClr val="window" lastClr="F0F4F8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1B2A3B"/>
    </a:dk1>
    <a:lt1>
      <a:sysClr val="window" lastClr="F0F4F8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1B2A3B"/>
    </a:dk1>
    <a:lt1>
      <a:sysClr val="window" lastClr="F0F4F8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1B2A3B"/>
    </a:dk1>
    <a:lt1>
      <a:sysClr val="window" lastClr="F0F4F8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1B2A3B"/>
    </a:dk1>
    <a:lt1>
      <a:sysClr val="window" lastClr="F0F4F8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1B2A3B"/>
    </a:dk1>
    <a:lt1>
      <a:sysClr val="window" lastClr="F0F4F8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1B2A3B"/>
    </a:dk1>
    <a:lt1>
      <a:sysClr val="window" lastClr="F0F4F8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1B2A3B"/>
    </a:dk1>
    <a:lt1>
      <a:sysClr val="window" lastClr="F0F4F8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0.xml><?xml version="1.0" encoding="utf-8"?>
<a:themeOverride xmlns:a="http://schemas.openxmlformats.org/drawingml/2006/main">
  <a:clrScheme name="Office">
    <a:dk1>
      <a:sysClr val="windowText" lastClr="1B2A3B"/>
    </a:dk1>
    <a:lt1>
      <a:sysClr val="window" lastClr="F0F4F8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1.xml><?xml version="1.0" encoding="utf-8"?>
<a:themeOverride xmlns:a="http://schemas.openxmlformats.org/drawingml/2006/main">
  <a:clrScheme name="Office">
    <a:dk1>
      <a:sysClr val="windowText" lastClr="1B2A3B"/>
    </a:dk1>
    <a:lt1>
      <a:sysClr val="window" lastClr="F0F4F8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2.xml><?xml version="1.0" encoding="utf-8"?>
<a:themeOverride xmlns:a="http://schemas.openxmlformats.org/drawingml/2006/main">
  <a:clrScheme name="Office">
    <a:dk1>
      <a:sysClr val="windowText" lastClr="1B2A3B"/>
    </a:dk1>
    <a:lt1>
      <a:sysClr val="window" lastClr="F0F4F8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3.xml><?xml version="1.0" encoding="utf-8"?>
<a:themeOverride xmlns:a="http://schemas.openxmlformats.org/drawingml/2006/main">
  <a:clrScheme name="Office">
    <a:dk1>
      <a:sysClr val="windowText" lastClr="1B2A3B"/>
    </a:dk1>
    <a:lt1>
      <a:sysClr val="window" lastClr="F0F4F8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4.xml><?xml version="1.0" encoding="utf-8"?>
<a:themeOverride xmlns:a="http://schemas.openxmlformats.org/drawingml/2006/main">
  <a:clrScheme name="Office">
    <a:dk1>
      <a:sysClr val="windowText" lastClr="1B2A3B"/>
    </a:dk1>
    <a:lt1>
      <a:sysClr val="window" lastClr="F0F4F8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186</TotalTime>
  <Words>1734</Words>
  <Application>Microsoft Macintosh PowerPoint</Application>
  <PresentationFormat>On-screen Show (16:9)</PresentationFormat>
  <Paragraphs>309</Paragraphs>
  <Slides>19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1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Modelo PD Tarjetas de Crédito</dc:title>
  <dc:subject>PptxGenJS Presentation</dc:subject>
  <dc:creator>Diego Vargas Santana</dc:creator>
  <cp:lastModifiedBy>DIEGO VARGAS SANTANA</cp:lastModifiedBy>
  <cp:revision>10</cp:revision>
  <dcterms:created xsi:type="dcterms:W3CDTF">2026-04-29T21:29:04Z</dcterms:created>
  <dcterms:modified xsi:type="dcterms:W3CDTF">2026-05-04T03:43:45Z</dcterms:modified>
</cp:coreProperties>
</file>